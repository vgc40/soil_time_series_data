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300437afb4a2e" /><Relationship Type="http://schemas.openxmlformats.org/officeDocument/2006/relationships/extended-properties" Target="/docProps/app.xml" Id="Rc637a2b5297f40db" /><Relationship Type="http://schemas.openxmlformats.org/officeDocument/2006/relationships/officeDocument" Target="/ppt/presentation.xml" Id="R25cbc23ba91f4d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3fd337a1f6439b"/>
  </p:sldMasterIdLst>
  <p:notesMasterIdLst>
    <p:notesMasterId xmlns:r="http://schemas.openxmlformats.org/officeDocument/2006/relationships" r:id="Recb22ae002c340fa"/>
  </p:notesMasterIdLst>
  <p:sldIdLst>
    <p:sldId xmlns:r="http://schemas.openxmlformats.org/officeDocument/2006/relationships" id="256" r:id="R3b451591dd6444c9"/>
    <p:sldId xmlns:r="http://schemas.openxmlformats.org/officeDocument/2006/relationships" id="257" r:id="Rf12dfde1d0f44060"/>
    <p:sldId xmlns:r="http://schemas.openxmlformats.org/officeDocument/2006/relationships" id="258" r:id="R02b8dc61b5994444"/>
    <p:sldId xmlns:r="http://schemas.openxmlformats.org/officeDocument/2006/relationships" id="259" r:id="R5a6d565f317e4b69"/>
    <p:sldId xmlns:r="http://schemas.openxmlformats.org/officeDocument/2006/relationships" id="260" r:id="Rfd29034e09074c93"/>
    <p:sldId xmlns:r="http://schemas.openxmlformats.org/officeDocument/2006/relationships" id="261" r:id="R1bd97c44b5c5466a"/>
    <p:sldId xmlns:r="http://schemas.openxmlformats.org/officeDocument/2006/relationships" id="262" r:id="R969de4de478549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cd231732534b10" /><Relationship Type="http://schemas.openxmlformats.org/officeDocument/2006/relationships/slideMaster" Target="/ppt/slideMasters/slideMaster1.xml" Id="Rb53fd337a1f6439b" /><Relationship Type="http://schemas.openxmlformats.org/officeDocument/2006/relationships/notesMaster" Target="/ppt/notesMasters/notesMaster1.xml" Id="Recb22ae002c340fa" /><Relationship Type="http://schemas.openxmlformats.org/officeDocument/2006/relationships/presProps" Target="/ppt/presProps.xml" Id="R8721121bcb174339" /><Relationship Type="http://schemas.openxmlformats.org/officeDocument/2006/relationships/viewProps" Target="/ppt/viewProps.xml" Id="R964d4d3044bd4be2" /><Relationship Type="http://schemas.openxmlformats.org/officeDocument/2006/relationships/tableStyles" Target="/ppt/tableStyles.xml" Id="R14236467fc4946a5" /><Relationship Type="http://schemas.openxmlformats.org/officeDocument/2006/relationships/slide" Target="/ppt/slides/slide1.xml" Id="R3b451591dd6444c9" /><Relationship Type="http://schemas.openxmlformats.org/officeDocument/2006/relationships/slide" Target="/ppt/slides/slide2.xml" Id="Rf12dfde1d0f44060" /><Relationship Type="http://schemas.openxmlformats.org/officeDocument/2006/relationships/slide" Target="/ppt/slides/slide3.xml" Id="R02b8dc61b5994444" /><Relationship Type="http://schemas.openxmlformats.org/officeDocument/2006/relationships/slide" Target="/ppt/slides/slide4.xml" Id="R5a6d565f317e4b69" /><Relationship Type="http://schemas.openxmlformats.org/officeDocument/2006/relationships/slide" Target="/ppt/slides/slide5.xml" Id="Rfd29034e09074c93" /><Relationship Type="http://schemas.openxmlformats.org/officeDocument/2006/relationships/slide" Target="/ppt/slides/slide6.xml" Id="R1bd97c44b5c5466a" /><Relationship Type="http://schemas.openxmlformats.org/officeDocument/2006/relationships/slide" Target="/ppt/slides/slide7.xml" Id="R969de4de478549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045f8e367e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5ccddd6eed498d" /><Relationship Type="http://schemas.openxmlformats.org/officeDocument/2006/relationships/notesMaster" Target="/ppt/notesMasters/notesMaster1.xml" Id="Re8ad8555626a45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9e0e69692c4a6a" /><Relationship Type="http://schemas.openxmlformats.org/officeDocument/2006/relationships/notesMaster" Target="/ppt/notesMasters/notesMaster1.xml" Id="Rf0606b327b4f4c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f4c2f6f1fb4f8a" /><Relationship Type="http://schemas.openxmlformats.org/officeDocument/2006/relationships/notesMaster" Target="/ppt/notesMasters/notesMaster1.xml" Id="R44f2261d802f4a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0294934fbd4e1b" /><Relationship Type="http://schemas.openxmlformats.org/officeDocument/2006/relationships/notesMaster" Target="/ppt/notesMasters/notesMaster1.xml" Id="Rda9dc0423ceb44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f7982cd0e4f3b" /><Relationship Type="http://schemas.openxmlformats.org/officeDocument/2006/relationships/notesMaster" Target="/ppt/notesMasters/notesMaster1.xml" Id="Re250d49b0996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a7876c94104bbb" /><Relationship Type="http://schemas.openxmlformats.org/officeDocument/2006/relationships/notesMaster" Target="/ppt/notesMasters/notesMaster1.xml" Id="R5778d88a28a84c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1b46beef944b7c" /><Relationship Type="http://schemas.openxmlformats.org/officeDocument/2006/relationships/notesMaster" Target="/ppt/notesMasters/notesMaster1.xml" Id="R1a7d3a57ad6e43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Scripts/13_Factor1_expression_MicroResp_BRITE_C_D.R</a:t>
            </a:r>
          </a:p>
          <a:p xmlns:a="http://schemas.openxmlformats.org/drawingml/2006/main">
            <a:r>
              <a:t>SFA3-1-1_VGC_Storyboard_v2.docx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Results/Factor1_BRITE_MicroResp/factor1_gene_summary.csv</a:t>
            </a:r>
          </a:p>
          <a:p xmlns:a="http://schemas.openxmlformats.org/drawingml/2006/main">
            <a:r>
              <a:t>Results/Factor1_BRITE_MicroResp/run_manifest.csv</a:t>
            </a:r>
          </a:p>
          <a:p xmlns:a="http://schemas.openxmlformats.org/drawingml/2006/main">
            <a:r>
              <a:t>Scripts/13_Factor1_expression_MicroResp_BRITE_C_D.R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Results/Factor1_BRITE_MicroResp/factor1_brite_C_summary.csv</a:t>
            </a:r>
          </a:p>
          <a:p xmlns:a="http://schemas.openxmlformats.org/drawingml/2006/main">
            <a:r>
              <a:t>Results/Factor1_BRITE_MicroResp/factor1_brite_D_summary.csv</a:t>
            </a:r>
          </a:p>
          <a:p xmlns:a="http://schemas.openxmlformats.org/drawingml/2006/main">
            <a:r>
              <a:t>Figures/Factor1_BRITE_MicroResp/factor1_brite_C_gene_counts.png</a:t>
            </a:r>
          </a:p>
          <a:p xmlns:a="http://schemas.openxmlformats.org/drawingml/2006/main">
            <a:r>
              <a:t>Figures/Factor1_BRITE_MicroResp/factor1_brite_D_gene_counts.png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Results/Factor1_BRITE_MicroResp/factor1_microresp_overlap_summary.csv</a:t>
            </a:r>
          </a:p>
          <a:p xmlns:a="http://schemas.openxmlformats.org/drawingml/2006/main">
            <a:r>
              <a:t>Results/Factor1_BRITE_MicroResp/clustering/Factor1_MicroResp_clustering_run_summary.csv</a:t>
            </a:r>
          </a:p>
          <a:p xmlns:a="http://schemas.openxmlformats.org/drawingml/2006/main">
            <a:r>
              <a:t>Results/Factor1_BRITE_MicroResp/clustering/brite_C_Factor1_MicroResp_elbow_diagnostics.csv</a:t>
            </a:r>
          </a:p>
          <a:p xmlns:a="http://schemas.openxmlformats.org/drawingml/2006/main">
            <a:r>
              <a:t>Results/Factor1_BRITE_MicroResp/clustering/brite_D_Factor1_MicroResp_elbow_diagnostics.csv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Results/Factor1_BRITE_MicroResp/clustering/brite_C_Factor1_MicroResp_cluster_assignments.csv</a:t>
            </a:r>
          </a:p>
          <a:p xmlns:a="http://schemas.openxmlformats.org/drawingml/2006/main">
            <a:r>
              <a:t>Results/Factor1_BRITE_MicroResp/clustering/brite_C_Factor1_MicroResp_cluster_average_trajectories.csv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Results/Factor1_BRITE_MicroResp/clustering/brite_D_Factor1_MicroResp_cluster_assignments.csv</a:t>
            </a:r>
          </a:p>
          <a:p xmlns:a="http://schemas.openxmlformats.org/drawingml/2006/main">
            <a:r>
              <a:t>Results/Factor1_BRITE_MicroResp/clustering/brite_D_Factor1_MicroResp_cluster_average_trajectories.csv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SFA3-1-1_VGC_Storyboard_v2.docx</a:t>
            </a:r>
          </a:p>
          <a:p xmlns:a="http://schemas.openxmlformats.org/drawingml/2006/main">
            <a:r>
              <a:t>Data/factor1_all_omic_genes.csv</a:t>
            </a:r>
          </a:p>
          <a:p xmlns:a="http://schemas.openxmlformats.org/drawingml/2006/main">
            <a:r>
              <a:t>Results/Factor1_BRITE_MicroResp/clustering/Factor1_MicroResp_clustering_run_summary.csv</a:t>
            </a:r>
          </a:p>
          <a:p xmlns:a="http://schemas.openxmlformats.org/drawingml/2006/main">
            <a:r>
              <a:t>Scripts/13_Factor1_expression_MicroResp_BRITE_C_D.R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5c773f3414e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fbeac0e2174ea4" /><Relationship Type="http://schemas.openxmlformats.org/officeDocument/2006/relationships/slideLayout" Target="/ppt/slideLayouts/slideLayout1.xml" Id="Rcd71c052554541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1c052554541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0a115a63a4f82" /><Relationship Type="http://schemas.openxmlformats.org/officeDocument/2006/relationships/notesSlide" Target="/ppt/notesSlides/notesSlide1.xml" Id="Rf70b1ba76ac3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4fde100984023" /><Relationship Type="http://schemas.openxmlformats.org/officeDocument/2006/relationships/notesSlide" Target="/ppt/notesSlides/notesSlide2.xml" Id="R01d0dba40d424b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5ad0c677b46aa" /><Relationship Type="http://schemas.openxmlformats.org/officeDocument/2006/relationships/image" Target="/ppt/media/image.png" Id="R2db346a267594d73" /><Relationship Type="http://schemas.openxmlformats.org/officeDocument/2006/relationships/image" Target="/ppt/media/image2.png" Id="R72056a09f16947ca" /><Relationship Type="http://schemas.openxmlformats.org/officeDocument/2006/relationships/notesSlide" Target="/ppt/notesSlides/notesSlide3.xml" Id="R38bdcfa9002e40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34cbc7d7e45dc" /><Relationship Type="http://schemas.openxmlformats.org/officeDocument/2006/relationships/image" Target="/ppt/media/image.png" Id="R26fcb9bf23a24ab7" /><Relationship Type="http://schemas.openxmlformats.org/officeDocument/2006/relationships/image" Target="/ppt/media/image2.png" Id="Rc358b9b17c91453f" /><Relationship Type="http://schemas.openxmlformats.org/officeDocument/2006/relationships/notesSlide" Target="/ppt/notesSlides/notesSlide4.xml" Id="R6c2c33d9af4a49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ee934f8844602" /><Relationship Type="http://schemas.openxmlformats.org/officeDocument/2006/relationships/image" Target="/ppt/media/image3.png" Id="Rf85ecb2b9db54635" /><Relationship Type="http://schemas.openxmlformats.org/officeDocument/2006/relationships/notesSlide" Target="/ppt/notesSlides/notesSlide5.xml" Id="Rc51e1320c71e46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e5db74f4e465f" /><Relationship Type="http://schemas.openxmlformats.org/officeDocument/2006/relationships/image" Target="/ppt/media/image4.png" Id="R3949cf1cf9b74d74" /><Relationship Type="http://schemas.openxmlformats.org/officeDocument/2006/relationships/notesSlide" Target="/ppt/notesSlides/notesSlide6.xml" Id="Rb1a1f822e4cf4b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87ff87cc649c1" /><Relationship Type="http://schemas.openxmlformats.org/officeDocument/2006/relationships/notesSlide" Target="/ppt/notesSlides/notesSlide7.xml" Id="Rd8446311fbb34d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MEFISTO Factor 1 genes contain three seasonal expression programs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gene selection, BRITE aggregation, temporal GAMs, MicroResp overlap, and trajectory clustering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100% irrigation metatranscriptomes | Seven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FOLLOW-ON ANALYSIS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6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workflow asks which Factor 1 transcripts align with MicroResp-linked functions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MEFISTO Factor 1 features were filtered from the original expression matrix, annotated to KEGG, aggregated to BRITE C pathways and BRITE D KOs, modeled through time, intersected with the MicroResp map, and clustered by fitted trajectory shape.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770k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Factor 1 transcript features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516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BRITE C pathways represented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6,789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BRITE D KOs represented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GAM: Expression ~ s(time, k = 6) + s(Plot, random effect). Clustering: row z-score, 1 - Pearson correlation, Ward.D2.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factor1_gene_summary.csv and run_manifest.csv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FUNCTIONAL BREADTH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7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Factor 1 genes span broad pathway- and KO-level functional space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346a267594d73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56a09f16947ca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most gene-rich annotations include central metabolism, biosynthesis, transport, energy conservation, and information-processing functions.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Bars count Factor 1 genes per annotation; they do not show loading sign or temporal significance.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FILTERING AND CLUSTER SELECTION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81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MicroResp-linked Factor 1 functions resolve into three temporal modes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cb9bf23a24ab7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8b9b17c91453f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MicroResp map matched 31 Factor 1 pathways and 1,113 Factor 1 KOs. After model matching, 31 pathways and 985 KOs were clustered; both elbow diagnostics selected k = 3.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Target-set FDR significance: 20 BRITE C pathways and 230 BRITE D KOs.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CLUSTER TRENDS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5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 pathways form three distinct temporal expression trajectories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ecb2b9db54635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5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12 pathways: highest in Jun-Jul, minimum in Jan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01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13 pathways: early-high, Jan minimum, strong May rebound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72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6 pathways: low through Oct, then rises to a May maximum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Storyboard connection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rises from winter through May and most closely resembles the storyboard's winter/early-spring Factor 1 signal. Clusters 1 and 2 capture early-high and rebound behavior.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 Factor 1 cluster assignments and average trajectories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D CLUSTER TRENDS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 KOs independently recover the same three timing modes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9cf1cf9b74d74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477 KOs: highest in Jun-Jul, sustained decline afterward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19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245 KOs: early-high, Jan minimum, strong May rebound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0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263 KOs: low in summer, increases from Jan through May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Storyboard connection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contains 263 KOs that rise from winter through May. KO-level resolution also reveals a large early-high group and a strong May-rebound group.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 Factor 1 cluster assignments and average trajectories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STORYBOARD SYNTHESIS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7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Factor 1 supports partial coordination, with an important sign-specific caveat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late-activation clusters support the storyboard's interpretation that part of the Factor 1 transcript signal tracks the winter/early-spring MicroResp phenotype. Other clusters reveal early-high and rebound programs within the same Factor 1 feature set.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263 KOs and 6 pathways rise from winter toward May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This analysis combines positive and negative Factor 1 loadings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Repeat clustering separately by loading sign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membership is broader than the sign-specific reconstructed trajectory. Separating loading direction would provide the cleanest direct test of the storyboard's negative-weight winter signal.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Factor 1 cluster outputs and manuscript storyboard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2026-07-27T01:57:29.6100000Z</dcterms:created>
  <dcterms:modified xsi:type="dcterms:W3CDTF">2026-07-27T01:57:29.6100000Z</dcterms:modified>
</coreProperties>
</file>