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15f324ceac48bc" /><Relationship Type="http://schemas.openxmlformats.org/officeDocument/2006/relationships/extended-properties" Target="/docProps/app.xml" Id="R9307dfae24fd4bc0" /><Relationship Type="http://schemas.openxmlformats.org/officeDocument/2006/relationships/officeDocument" Target="/ppt/presentation.xml" Id="R05e15226eb6a4f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45adf9ddf846e6"/>
  </p:sldMasterIdLst>
  <p:notesMasterIdLst>
    <p:notesMasterId xmlns:r="http://schemas.openxmlformats.org/officeDocument/2006/relationships" r:id="Rd59f8bc5457643d8"/>
  </p:notesMasterIdLst>
  <p:sldIdLst>
    <p:sldId xmlns:r="http://schemas.openxmlformats.org/officeDocument/2006/relationships" id="256" r:id="R6f11aae486104173"/>
    <p:sldId xmlns:r="http://schemas.openxmlformats.org/officeDocument/2006/relationships" id="257" r:id="Rc22c640d70704452"/>
    <p:sldId xmlns:r="http://schemas.openxmlformats.org/officeDocument/2006/relationships" id="258" r:id="R636865a3e9a64a2b"/>
    <p:sldId xmlns:r="http://schemas.openxmlformats.org/officeDocument/2006/relationships" id="259" r:id="Rebf5285acef141e0"/>
    <p:sldId xmlns:r="http://schemas.openxmlformats.org/officeDocument/2006/relationships" id="260" r:id="R4b09ea44792346f6"/>
    <p:sldId xmlns:r="http://schemas.openxmlformats.org/officeDocument/2006/relationships" id="261" r:id="R1603125349114445"/>
    <p:sldId xmlns:r="http://schemas.openxmlformats.org/officeDocument/2006/relationships" id="262" r:id="R852598fe851e41bf"/>
    <p:sldId xmlns:r="http://schemas.openxmlformats.org/officeDocument/2006/relationships" id="263" r:id="R18cb3866bba84b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262ebf392b45fa" /><Relationship Type="http://schemas.openxmlformats.org/officeDocument/2006/relationships/slideMaster" Target="/ppt/slideMasters/slideMaster1.xml" Id="Rb545adf9ddf846e6" /><Relationship Type="http://schemas.openxmlformats.org/officeDocument/2006/relationships/notesMaster" Target="/ppt/notesMasters/notesMaster1.xml" Id="Rd59f8bc5457643d8" /><Relationship Type="http://schemas.openxmlformats.org/officeDocument/2006/relationships/presProps" Target="/ppt/presProps.xml" Id="Radb857accd734a60" /><Relationship Type="http://schemas.openxmlformats.org/officeDocument/2006/relationships/viewProps" Target="/ppt/viewProps.xml" Id="R85b7851b47d146dd" /><Relationship Type="http://schemas.openxmlformats.org/officeDocument/2006/relationships/tableStyles" Target="/ppt/tableStyles.xml" Id="R9c2f7dc952c74b7f" /><Relationship Type="http://schemas.openxmlformats.org/officeDocument/2006/relationships/slide" Target="/ppt/slides/slide1.xml" Id="R6f11aae486104173" /><Relationship Type="http://schemas.openxmlformats.org/officeDocument/2006/relationships/slide" Target="/ppt/slides/slide2.xml" Id="Rc22c640d70704452" /><Relationship Type="http://schemas.openxmlformats.org/officeDocument/2006/relationships/slide" Target="/ppt/slides/slide3.xml" Id="R636865a3e9a64a2b" /><Relationship Type="http://schemas.openxmlformats.org/officeDocument/2006/relationships/slide" Target="/ppt/slides/slide4.xml" Id="Rebf5285acef141e0" /><Relationship Type="http://schemas.openxmlformats.org/officeDocument/2006/relationships/slide" Target="/ppt/slides/slide5.xml" Id="R4b09ea44792346f6" /><Relationship Type="http://schemas.openxmlformats.org/officeDocument/2006/relationships/slide" Target="/ppt/slides/slide6.xml" Id="R1603125349114445" /><Relationship Type="http://schemas.openxmlformats.org/officeDocument/2006/relationships/slide" Target="/ppt/slides/slide7.xml" Id="R852598fe851e41bf" /><Relationship Type="http://schemas.openxmlformats.org/officeDocument/2006/relationships/slide" Target="/ppt/slides/slide8.xml" Id="R18cb3866bba8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4653bf5b2049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c25c99f1748dc" /><Relationship Type="http://schemas.openxmlformats.org/officeDocument/2006/relationships/notesMaster" Target="/ppt/notesMasters/notesMaster1.xml" Id="Rdf5ebf4d186b40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412eebdd554a79" /><Relationship Type="http://schemas.openxmlformats.org/officeDocument/2006/relationships/notesMaster" Target="/ppt/notesMasters/notesMaster1.xml" Id="Rc9c8f907e3144f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68cdb9d3504873" /><Relationship Type="http://schemas.openxmlformats.org/officeDocument/2006/relationships/notesMaster" Target="/ppt/notesMasters/notesMaster1.xml" Id="R8e884a80521a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c4316a56a54576" /><Relationship Type="http://schemas.openxmlformats.org/officeDocument/2006/relationships/notesMaster" Target="/ppt/notesMasters/notesMaster1.xml" Id="Rb11f5e7d0d2e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1bf1bf4a4a4391" /><Relationship Type="http://schemas.openxmlformats.org/officeDocument/2006/relationships/notesMaster" Target="/ppt/notesMasters/notesMaster1.xml" Id="R3f519ccb6687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1482a73e224b4a" /><Relationship Type="http://schemas.openxmlformats.org/officeDocument/2006/relationships/notesMaster" Target="/ppt/notesMasters/notesMaster1.xml" Id="Rc66ef119e81d40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2620d10dcb4bd2" /><Relationship Type="http://schemas.openxmlformats.org/officeDocument/2006/relationships/notesMaster" Target="/ppt/notesMasters/notesMaster1.xml" Id="Rffc9ade3605446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17dc57b83042c9" /><Relationship Type="http://schemas.openxmlformats.org/officeDocument/2006/relationships/notesMaster" Target="/ppt/notesMasters/notesMaster1.xml" Id="Rba2c18b04ad848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00377794d46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0ea601bdd4780" /><Relationship Type="http://schemas.openxmlformats.org/officeDocument/2006/relationships/slideLayout" Target="/ppt/slideLayouts/slideLayout1.xml" Id="R27c54b3358c745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54b3358c745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53e93cfbf4086" /><Relationship Type="http://schemas.openxmlformats.org/officeDocument/2006/relationships/notesSlide" Target="/ppt/notesSlides/notesSlide1.xml" Id="Rc4a441f1cfe9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8e96ef8aa4243" /><Relationship Type="http://schemas.openxmlformats.org/officeDocument/2006/relationships/notesSlide" Target="/ppt/notesSlides/notesSlide2.xml" Id="Rd6cdbfd03dc54e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e7bf5e8fe4f38" /><Relationship Type="http://schemas.openxmlformats.org/officeDocument/2006/relationships/image" Target="/ppt/media/image.png" Id="Rdd3f36e9fde84434" /><Relationship Type="http://schemas.openxmlformats.org/officeDocument/2006/relationships/image" Target="/ppt/media/image2.png" Id="R8ad3809faf5f4a67" /><Relationship Type="http://schemas.openxmlformats.org/officeDocument/2006/relationships/notesSlide" Target="/ppt/notesSlides/notesSlide3.xml" Id="R74493d4c7fb644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3eb9b8e6f4c6b" /><Relationship Type="http://schemas.openxmlformats.org/officeDocument/2006/relationships/image" Target="/ppt/media/image3.png" Id="R98da5b3f6df94d57" /><Relationship Type="http://schemas.openxmlformats.org/officeDocument/2006/relationships/notesSlide" Target="/ppt/notesSlides/notesSlide4.xml" Id="R0a584a36573f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0dd1b9ef4427c" /><Relationship Type="http://schemas.openxmlformats.org/officeDocument/2006/relationships/image" Target="/ppt/media/image4.png" Id="Rfa170fd3f9334967" /><Relationship Type="http://schemas.openxmlformats.org/officeDocument/2006/relationships/notesSlide" Target="/ppt/notesSlides/notesSlide5.xml" Id="R0dc2d40777ae4e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9f56f8be74df9" /><Relationship Type="http://schemas.openxmlformats.org/officeDocument/2006/relationships/image" Target="/ppt/media/image5.png" Id="Re2f1d15fbfc24ead" /><Relationship Type="http://schemas.openxmlformats.org/officeDocument/2006/relationships/notesSlide" Target="/ppt/notesSlides/notesSlide6.xml" Id="Reaa7a691282f40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84640b2ad4719" /><Relationship Type="http://schemas.openxmlformats.org/officeDocument/2006/relationships/image" Target="/ppt/media/image6.png" Id="R6e17b8bd6a4c4e6c" /><Relationship Type="http://schemas.openxmlformats.org/officeDocument/2006/relationships/notesSlide" Target="/ppt/notesSlides/notesSlide7.xml" Id="R007eb4a6113d47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af7e637044a8b" /><Relationship Type="http://schemas.openxmlformats.org/officeDocument/2006/relationships/notesSlide" Target="/ppt/notesSlides/notesSlide8.xml" Id="R642158c09c064b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Temporal clustering of significant BRITE pathways and KOs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GAM-fitted metatranscriptomic trajectories after KEGG exclusion filtering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and BRITE D analyzed separately | Seven sampling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Two functional resolutions reveal the same three timing modes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Only converged, FDR-significant GAM trajectories were clustered. Each feature was z-scored, so the analysis compares temporal shape rather than absolute expression.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155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BRITE C pathways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995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BRITE D KOs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k = 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elbow-selected clusters at both levels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Inputs: GAM-fitted expression at Jun, Jul, Sep, Oct, Jan, Mar, and May. Distance: 1 − Pearson correlation. Linkage: Ward.D2.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Results/BRITE_clustering_elbow/BRITE_clustering_run_summary.csv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annotation levels show a reproducible elbow at three clusters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f36e9fde84434"/>
          <a:stretch xmlns:a="http://schemas.openxmlformats.org/drawingml/2006/main"/>
        </p:blipFill>
        <p:spPr>
          <a:xfrm xmlns:a="http://schemas.openxmlformats.org/drawingml/2006/main">
            <a:off x="4572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3809faf5f4a67"/>
          <a:stretch xmlns:a="http://schemas.openxmlformats.org/drawingml/2006/main"/>
        </p:blipFill>
        <p:spPr>
          <a:xfrm xmlns:a="http://schemas.openxmlformats.org/drawingml/2006/main">
            <a:off x="6134100" y="1844278"/>
            <a:ext cx="5219700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Most of the reduction in within-cluster dissimilarity occurs by k = 3. Additional clusters provide progressively smaller gains and would subdivide the main temporal modes.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elbow_diagnostics.csv for BRITE C and BRITE D.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4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 separates early activity, winter activation, and a May rebound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a5b3f6df94d57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104 pathways (67%): high in Jun–Jul, lowest in Jan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49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25 pathways (16%): low through Oct, highest in Jan–Mar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1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 pathways (17%): declines to Jan, then peaks sharply in May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High-level meaning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Most significant pathways share an early-high trajectory, but one-third follow winter or late-spring activation patterns. The pathway-level response is therefore structured, not a single seasonal shift.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brite_C/cluster_average_trajectories.csv and cluster_summary.csv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BD5A5E-9195-4247-A5F2-C1731E6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6E5BB4-9696-4D29-9740-2D78377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Pathway identities suggest distinct functional programs across the year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7519F41-E720-46E0-A748-19D92C18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192A50-1B9F-40F3-B7D7-DF65612F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126CE9F-516C-487B-8435-F3227AF9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762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70fd3f9334967"/>
          <a:stretch xmlns:a="http://schemas.openxmlformats.org/drawingml/2006/main"/>
        </p:blipFill>
        <p:spPr>
          <a:xfrm xmlns:a="http://schemas.openxmlformats.org/drawingml/2006/main">
            <a:off x="923925" y="1676400"/>
            <a:ext cx="3714750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5222EC3-E99F-4DE7-BE7A-5A4D7C25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5735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4080D92-AFA6-476A-A2A8-D038F220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57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76F2225-E048-4118-98FB-5F2CF57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2880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Early-high group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30E3AB-D179-47E2-9F9C-D443ECFD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0275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Ribosome and translation, oxidative phosphorylation, arginine biosynthesis, glutathione metabolism, and lipopolysaccharide biosynthesis.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18854E-752D-4F1E-AB59-CC83512A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A5554-B46C-4B2B-94A2-F2A0189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232E02-DF8F-4508-A1EE-BA5801C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432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Winter-high group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C21EB78-DEB8-43BB-9D64-9F23D155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14725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Energy metabolism, transcription, RNA processing and degradation, chaperones, and protein processing.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5E9D092-AC7F-4535-9195-2994EDE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5D964D-554F-4AE0-BE68-720FF39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4CB45F3-9C32-45E0-A3EE-C3A1E684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5770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May-rebound group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7F036BE-865E-4041-A635-284510D2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29175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Nitrogen, methane, and sulfur metabolism, two-component signaling, proteasome activity, and arginine/proline metabolism.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51F8332-02E1-4207-886C-2AA9D75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19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Interpretation caution: KEGG pathway names such as apoptosis or animal signaling reflect orthology-based labels. They should not be treated as organism-specific functions without checking the contributing KOs and taxonomy.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02EBCDA-D7DA-44B3-874F-0F6012F0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Heatmap shows the 60 significant pathways with highest adjusted R²; it is not a complete functional enrichment analysis.</a:t>
            </a:r>
          </a:p>
        </p:txBody>
      </p:sp>
    </p:spTree>
    <p:extLst>
      <p:ext uri="{BB962C8B-B14F-4D97-AF65-F5344CB8AC3E}">
        <p14:creationId xmlns:p14="http://schemas.microsoft.com/office/powerpoint/2010/main" val="15732528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3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KO-level clustering resolves a larger late-season activation group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1d15fbfc24ead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55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449 KOs (45%): high in Jun–Jul, sustained decline afterward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9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299 KOs (30%): early-high, Jan minimum, strong May rebound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3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247 KOs (25%): low through Oct, increases from Jan to May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High-level meaning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At finer resolution, 55% of significant KOs belong to rebound or late-activation trajectories. Aggregated pathways can therefore mask heterogeneous behavior among their constituent genes.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brite_D/cluster_average_trajectories.csv and cluster_summary.csv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6A441F-A9D7-4738-B165-96017D2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415BE0-2CFC-4A05-A97F-163F5660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56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KO signals span growth machinery, respiration, and stress response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D789BF5-961D-4D9E-86C0-F0143B15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8930BA-A859-4120-8271-D0A51E9A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4056B6-DB70-4863-9719-1EBC9537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762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7b8bd6a4c4e6c"/>
          <a:stretch xmlns:a="http://schemas.openxmlformats.org/drawingml/2006/main"/>
        </p:blipFill>
        <p:spPr>
          <a:xfrm xmlns:a="http://schemas.openxmlformats.org/drawingml/2006/main">
            <a:off x="1295400" y="1676400"/>
            <a:ext cx="2971800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618823E-D0BE-451D-9586-F37E36B0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5735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17426F9-5F55-4B4A-8B75-BB9A12DE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573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0EC5540-1AC7-4E17-96F6-45643609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2880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Early-high group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50B1DE1-4EBE-4B49-9390-B19C2F6B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0275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Many ribosomal proteins, ATPase subunits, urease subunits, polyamine transport, and osmotic or oxidative stress proteins.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5F3977-4351-4CCF-BF12-B8E684D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C91E36F-CDF4-4644-88EB-0C79444D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DF06DB5-8A92-46AD-A08D-AADA943B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432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May-rebound group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12B78AE-0EAE-420D-978D-3EF285E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14725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Nitrate/nitrite and sulfur-related reductases, RNA polymerase components, proteasome and chaperonin functions, and phosphate response.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066A809-DBCE-48B2-AAB3-AEBD3D3C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590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583453F-29FE-4B13-9D5F-D477568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E3301B3-35CA-4C2F-AA62-6AAF8237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5770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Late-activation group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000E611-2AB3-451A-A300-064ED1AD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29175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Nitric oxide reductase, Fe–S cluster assembly proteins (Isc/Suf), HSP20 and GroES chaperones, and selected carbon-use genes.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A4AC30E-266B-4B73-8C75-F8738AA6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19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These examples come from the top 75 features ranked primarily by adjusted R². They illustrate the strongest trajectories, not the proportional functional composition of each full cluster.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E6481AC-8ECA-4A0E-9D76-7C50B9D9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brite_D/top_75_heatmap_features.csv</a:t>
            </a:r>
          </a:p>
        </p:txBody>
      </p:sp>
    </p:spTree>
    <p:extLst>
      <p:ext uri="{BB962C8B-B14F-4D97-AF65-F5344CB8AC3E}">
        <p14:creationId xmlns:p14="http://schemas.microsoft.com/office/powerpoint/2010/main" val="2712857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8E64BB8-873F-4530-8C58-1B6835D0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250F80-87AD-40DB-85F4-B9FA1D2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 and D agree on timing modes, but not on their prevalence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9533C89-DCE1-49C7-821B-B6F3484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3F9C051-806F-408E-A947-9A1992A4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5028CA8-4131-4345-B803-81571F85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65" y="23622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A15904-5D63-4106-AC3B-8E1AC21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715" y="250507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Temporal mode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FD5B5DA-8E4F-46CD-A10C-782C3CB8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065" y="2362200"/>
            <a:ext cx="2257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9451E4E-AE5C-4CCC-9E2D-F8D554CA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415" y="250507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BRITE C pathways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31711-EAE0-4CFD-AB5F-13C6DE2A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90" y="2362200"/>
            <a:ext cx="2257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D19DBA-BED5-4F1C-BF86-D43A90C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040" y="2505075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BRITE D KOs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9ECCC62-52B0-4DD8-BCD9-30BB0F5D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65" y="28765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F438E7B-01B4-44C0-B571-2365929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715" y="30480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Early-high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8D4C9F2-3389-46E6-9E24-5C84C86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065" y="2876550"/>
            <a:ext cx="22574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9F73D1C-F48A-49E4-9D9A-27E27E6C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415" y="3048000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104 | 67%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470D783-9B09-45D0-B764-B8CF29CE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90" y="2876550"/>
            <a:ext cx="22574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A835BD1-42D3-48E3-A806-D7C7410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040" y="3048000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449 | 45%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A3161A-F7F3-43FF-9AAD-33EDBBF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65" y="38290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BCEE6F9-E1FD-4C14-9643-8FE9592C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715" y="40005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Winter/late activation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B819B90-4131-4F85-95C6-E0D40239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065" y="3829050"/>
            <a:ext cx="22574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6B3A2CC-FA13-468D-A654-E3E0F614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415" y="4000500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25 | 16%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9968DBE-918C-4F09-BC6D-4A233615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90" y="3829050"/>
            <a:ext cx="22574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654E8BC-ABCC-4176-9150-44ABE820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040" y="4000500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247 | 25%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6D9E996-9A1F-4879-99E8-863105A5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65" y="4781550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D49C99B-01B9-4017-9B6B-8D6E4BF1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715" y="49530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Late-spring rebound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5DDD3B4-2122-45EB-9B0C-4B8D73D0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065" y="4781550"/>
            <a:ext cx="22574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67DBFE-92A8-40FF-9698-03C37787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415" y="4953000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 | 17%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D934F7F-568B-41A2-9065-F9E0300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90" y="4781550"/>
            <a:ext cx="22574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F6C64D4-B7AC-49B6-BA3F-FC375E6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040" y="4953000"/>
            <a:ext cx="199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299 | 30%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83BF01D-24A8-46B8-8DF5-8BAF4F4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Percentages calculated from 155 BRITE C pathways and 995 BRITE D KOs.</a:t>
            </a:r>
          </a:p>
        </p:txBody>
      </p:sp>
    </p:spTree>
    <p:extLst>
      <p:ext uri="{BB962C8B-B14F-4D97-AF65-F5344CB8AC3E}">
        <p14:creationId xmlns:p14="http://schemas.microsoft.com/office/powerpoint/2010/main" val="1483691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2026-07-26T18:40:09.7550000Z</dcterms:created>
  <dcterms:modified xsi:type="dcterms:W3CDTF">2026-07-26T18:40:09.7550000Z</dcterms:modified>
</coreProperties>
</file>