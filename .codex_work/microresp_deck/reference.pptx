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559D34-828C-4476-B724-2AC7D8898FAF}" v="4" dt="2026-07-15T23:39:11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ayburu-Caruso, Vanessa A" userId="e129c12f-749a-4310-80b6-042d2c75f741" providerId="ADAL" clId="{BDE9D4B7-D194-4151-8169-6202A9EC195B}"/>
    <pc:docChg chg="custSel addSld delSld modSld">
      <pc:chgData name="Garayburu-Caruso, Vanessa A" userId="e129c12f-749a-4310-80b6-042d2c75f741" providerId="ADAL" clId="{BDE9D4B7-D194-4151-8169-6202A9EC195B}" dt="2026-07-15T23:55:30.478" v="66"/>
      <pc:docMkLst>
        <pc:docMk/>
      </pc:docMkLst>
      <pc:sldChg chg="modSp mod">
        <pc:chgData name="Garayburu-Caruso, Vanessa A" userId="e129c12f-749a-4310-80b6-042d2c75f741" providerId="ADAL" clId="{BDE9D4B7-D194-4151-8169-6202A9EC195B}" dt="2026-07-15T23:23:36.586" v="12" actId="1076"/>
        <pc:sldMkLst>
          <pc:docMk/>
          <pc:sldMk cId="892424089" sldId="258"/>
        </pc:sldMkLst>
        <pc:spChg chg="mod">
          <ac:chgData name="Garayburu-Caruso, Vanessa A" userId="e129c12f-749a-4310-80b6-042d2c75f741" providerId="ADAL" clId="{BDE9D4B7-D194-4151-8169-6202A9EC195B}" dt="2026-07-15T23:23:28.939" v="10" actId="1076"/>
          <ac:spMkLst>
            <pc:docMk/>
            <pc:sldMk cId="892424089" sldId="258"/>
            <ac:spMk id="7" creationId="{B9A41229-6191-49E3-B29C-DE6F126C29CF}"/>
          </ac:spMkLst>
        </pc:spChg>
        <pc:spChg chg="mod">
          <ac:chgData name="Garayburu-Caruso, Vanessa A" userId="e129c12f-749a-4310-80b6-042d2c75f741" providerId="ADAL" clId="{BDE9D4B7-D194-4151-8169-6202A9EC195B}" dt="2026-07-15T23:23:36.586" v="12" actId="1076"/>
          <ac:spMkLst>
            <pc:docMk/>
            <pc:sldMk cId="892424089" sldId="258"/>
            <ac:spMk id="9" creationId="{940FB5E9-92AC-4981-AB48-D1E20CBE0215}"/>
          </ac:spMkLst>
        </pc:spChg>
        <pc:spChg chg="mod">
          <ac:chgData name="Garayburu-Caruso, Vanessa A" userId="e129c12f-749a-4310-80b6-042d2c75f741" providerId="ADAL" clId="{BDE9D4B7-D194-4151-8169-6202A9EC195B}" dt="2026-07-15T23:23:32.405" v="11" actId="1076"/>
          <ac:spMkLst>
            <pc:docMk/>
            <pc:sldMk cId="892424089" sldId="258"/>
            <ac:spMk id="10" creationId="{59D64A7F-E1E9-470D-B830-7E1A797B9D4D}"/>
          </ac:spMkLst>
        </pc:spChg>
      </pc:sldChg>
      <pc:sldChg chg="modSp mod">
        <pc:chgData name="Garayburu-Caruso, Vanessa A" userId="e129c12f-749a-4310-80b6-042d2c75f741" providerId="ADAL" clId="{BDE9D4B7-D194-4151-8169-6202A9EC195B}" dt="2026-07-15T23:22:48.911" v="1" actId="27636"/>
        <pc:sldMkLst>
          <pc:docMk/>
          <pc:sldMk cId="352653579" sldId="259"/>
        </pc:sldMkLst>
        <pc:spChg chg="mod">
          <ac:chgData name="Garayburu-Caruso, Vanessa A" userId="e129c12f-749a-4310-80b6-042d2c75f741" providerId="ADAL" clId="{BDE9D4B7-D194-4151-8169-6202A9EC195B}" dt="2026-07-15T23:22:48.911" v="1" actId="27636"/>
          <ac:spMkLst>
            <pc:docMk/>
            <pc:sldMk cId="352653579" sldId="259"/>
            <ac:spMk id="10" creationId="{37D341D0-D547-4B0D-B420-74B7BFB5239F}"/>
          </ac:spMkLst>
        </pc:spChg>
        <pc:spChg chg="mod">
          <ac:chgData name="Garayburu-Caruso, Vanessa A" userId="e129c12f-749a-4310-80b6-042d2c75f741" providerId="ADAL" clId="{BDE9D4B7-D194-4151-8169-6202A9EC195B}" dt="2026-07-15T23:22:48.907" v="0" actId="27636"/>
          <ac:spMkLst>
            <pc:docMk/>
            <pc:sldMk cId="352653579" sldId="259"/>
            <ac:spMk id="12" creationId="{00A2F0B7-4C97-4F8B-BCAC-EEFD935D4757}"/>
          </ac:spMkLst>
        </pc:spChg>
      </pc:sldChg>
      <pc:sldChg chg="modSp mod">
        <pc:chgData name="Garayburu-Caruso, Vanessa A" userId="e129c12f-749a-4310-80b6-042d2c75f741" providerId="ADAL" clId="{BDE9D4B7-D194-4151-8169-6202A9EC195B}" dt="2026-07-15T23:34:24.581" v="54" actId="27636"/>
        <pc:sldMkLst>
          <pc:docMk/>
          <pc:sldMk cId="1077226257" sldId="261"/>
        </pc:sldMkLst>
        <pc:spChg chg="mod">
          <ac:chgData name="Garayburu-Caruso, Vanessa A" userId="e129c12f-749a-4310-80b6-042d2c75f741" providerId="ADAL" clId="{BDE9D4B7-D194-4151-8169-6202A9EC195B}" dt="2026-07-15T23:22:48.918" v="2" actId="27636"/>
          <ac:spMkLst>
            <pc:docMk/>
            <pc:sldMk cId="1077226257" sldId="261"/>
            <ac:spMk id="2" creationId="{26432386-AAAA-44D1-B52C-949631A35A2F}"/>
          </ac:spMkLst>
        </pc:spChg>
        <pc:spChg chg="mod">
          <ac:chgData name="Garayburu-Caruso, Vanessa A" userId="e129c12f-749a-4310-80b6-042d2c75f741" providerId="ADAL" clId="{BDE9D4B7-D194-4151-8169-6202A9EC195B}" dt="2026-07-15T23:34:24.581" v="54" actId="27636"/>
          <ac:spMkLst>
            <pc:docMk/>
            <pc:sldMk cId="1077226257" sldId="261"/>
            <ac:spMk id="8" creationId="{B02C4817-8958-4542-9D57-060FF9ACB89B}"/>
          </ac:spMkLst>
        </pc:spChg>
        <pc:spChg chg="mod">
          <ac:chgData name="Garayburu-Caruso, Vanessa A" userId="e129c12f-749a-4310-80b6-042d2c75f741" providerId="ADAL" clId="{BDE9D4B7-D194-4151-8169-6202A9EC195B}" dt="2026-07-15T23:22:48.921" v="5" actId="27636"/>
          <ac:spMkLst>
            <pc:docMk/>
            <pc:sldMk cId="1077226257" sldId="261"/>
            <ac:spMk id="10" creationId="{43392CB9-5CCC-42AC-B708-38BF57783C3E}"/>
          </ac:spMkLst>
        </pc:spChg>
        <pc:spChg chg="mod">
          <ac:chgData name="Garayburu-Caruso, Vanessa A" userId="e129c12f-749a-4310-80b6-042d2c75f741" providerId="ADAL" clId="{BDE9D4B7-D194-4151-8169-6202A9EC195B}" dt="2026-07-15T23:34:24.581" v="53" actId="27636"/>
          <ac:spMkLst>
            <pc:docMk/>
            <pc:sldMk cId="1077226257" sldId="261"/>
            <ac:spMk id="12" creationId="{1BAF9452-9E52-46F8-9DDF-4B4052FADEA3}"/>
          </ac:spMkLst>
        </pc:spChg>
      </pc:sldChg>
      <pc:sldChg chg="modSp mod">
        <pc:chgData name="Garayburu-Caruso, Vanessa A" userId="e129c12f-749a-4310-80b6-042d2c75f741" providerId="ADAL" clId="{BDE9D4B7-D194-4151-8169-6202A9EC195B}" dt="2026-07-15T23:22:48.924" v="6" actId="27636"/>
        <pc:sldMkLst>
          <pc:docMk/>
          <pc:sldMk cId="271285787" sldId="262"/>
        </pc:sldMkLst>
        <pc:spChg chg="mod">
          <ac:chgData name="Garayburu-Caruso, Vanessa A" userId="e129c12f-749a-4310-80b6-042d2c75f741" providerId="ADAL" clId="{BDE9D4B7-D194-4151-8169-6202A9EC195B}" dt="2026-07-15T23:22:48.924" v="6" actId="27636"/>
          <ac:spMkLst>
            <pc:docMk/>
            <pc:sldMk cId="271285787" sldId="262"/>
            <ac:spMk id="2" creationId="{04415BE0-2CFC-4A05-A97F-163F56601325}"/>
          </ac:spMkLst>
        </pc:spChg>
      </pc:sldChg>
      <pc:sldChg chg="delSp modSp mod">
        <pc:chgData name="Garayburu-Caruso, Vanessa A" userId="e129c12f-749a-4310-80b6-042d2c75f741" providerId="ADAL" clId="{BDE9D4B7-D194-4151-8169-6202A9EC195B}" dt="2026-07-15T23:30:47.174" v="49" actId="478"/>
        <pc:sldMkLst>
          <pc:docMk/>
          <pc:sldMk cId="1483691792" sldId="263"/>
        </pc:sldMkLst>
        <pc:spChg chg="del">
          <ac:chgData name="Garayburu-Caruso, Vanessa A" userId="e129c12f-749a-4310-80b6-042d2c75f741" providerId="ADAL" clId="{BDE9D4B7-D194-4151-8169-6202A9EC195B}" dt="2026-07-15T23:30:47.174" v="49" actId="478"/>
          <ac:spMkLst>
            <pc:docMk/>
            <pc:sldMk cId="1483691792" sldId="263"/>
            <ac:spMk id="5" creationId="{B220126A-34BE-4D5C-9B63-3906D91A799D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7" creationId="{A4A15904-5D63-4106-AC3B-8E1AC21727C9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10" creationId="{C3D31711-EAE0-4CFD-AB5F-13C6DE2A6DC2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11" creationId="{21D19DBA-BED5-4F1C-BF86-D43A90CEDE89}"/>
          </ac:spMkLst>
        </pc:spChg>
        <pc:spChg chg="del">
          <ac:chgData name="Garayburu-Caruso, Vanessa A" userId="e129c12f-749a-4310-80b6-042d2c75f741" providerId="ADAL" clId="{BDE9D4B7-D194-4151-8169-6202A9EC195B}" dt="2026-07-15T23:30:18.611" v="13" actId="478"/>
          <ac:spMkLst>
            <pc:docMk/>
            <pc:sldMk cId="1483691792" sldId="263"/>
            <ac:spMk id="12" creationId="{CCB8DA8E-4551-45E9-822A-7F1931E48C43}"/>
          </ac:spMkLst>
        </pc:spChg>
        <pc:spChg chg="del mod">
          <ac:chgData name="Garayburu-Caruso, Vanessa A" userId="e129c12f-749a-4310-80b6-042d2c75f741" providerId="ADAL" clId="{BDE9D4B7-D194-4151-8169-6202A9EC195B}" dt="2026-07-15T23:30:39.929" v="48" actId="478"/>
          <ac:spMkLst>
            <pc:docMk/>
            <pc:sldMk cId="1483691792" sldId="263"/>
            <ac:spMk id="13" creationId="{12256370-65A4-47D8-8BE2-711B84F83061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14" creationId="{99ECCC62-52B0-4DD8-BCD9-30BB0F5D09B4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17" creationId="{E9F73D1C-F48A-49E4-9D9A-27E27E6C7CAE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19" creationId="{7A835BD1-42D3-48E3-A806-D7C7410D9BB0}"/>
          </ac:spMkLst>
        </pc:spChg>
        <pc:spChg chg="del">
          <ac:chgData name="Garayburu-Caruso, Vanessa A" userId="e129c12f-749a-4310-80b6-042d2c75f741" providerId="ADAL" clId="{BDE9D4B7-D194-4151-8169-6202A9EC195B}" dt="2026-07-15T23:30:20.714" v="14" actId="478"/>
          <ac:spMkLst>
            <pc:docMk/>
            <pc:sldMk cId="1483691792" sldId="263"/>
            <ac:spMk id="20" creationId="{F572A6B8-8204-4324-B113-6D03BF24A740}"/>
          </ac:spMkLst>
        </pc:spChg>
        <pc:spChg chg="del">
          <ac:chgData name="Garayburu-Caruso, Vanessa A" userId="e129c12f-749a-4310-80b6-042d2c75f741" providerId="ADAL" clId="{BDE9D4B7-D194-4151-8169-6202A9EC195B}" dt="2026-07-15T23:30:18.611" v="13" actId="478"/>
          <ac:spMkLst>
            <pc:docMk/>
            <pc:sldMk cId="1483691792" sldId="263"/>
            <ac:spMk id="21" creationId="{D90C0356-59D3-41C2-B3FA-BC2D3B2B0D3C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24" creationId="{BB819B90-4131-4F85-95C6-E0D40239603B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27" creationId="{A654E8BC-ABCC-4176-9150-44ABE8207DE2}"/>
          </ac:spMkLst>
        </pc:spChg>
        <pc:spChg chg="del">
          <ac:chgData name="Garayburu-Caruso, Vanessa A" userId="e129c12f-749a-4310-80b6-042d2c75f741" providerId="ADAL" clId="{BDE9D4B7-D194-4151-8169-6202A9EC195B}" dt="2026-07-15T23:30:18.611" v="13" actId="478"/>
          <ac:spMkLst>
            <pc:docMk/>
            <pc:sldMk cId="1483691792" sldId="263"/>
            <ac:spMk id="28" creationId="{37F562B6-8D61-4012-B239-6E6DE064E3CA}"/>
          </ac:spMkLst>
        </pc:spChg>
        <pc:spChg chg="del">
          <ac:chgData name="Garayburu-Caruso, Vanessa A" userId="e129c12f-749a-4310-80b6-042d2c75f741" providerId="ADAL" clId="{BDE9D4B7-D194-4151-8169-6202A9EC195B}" dt="2026-07-15T23:30:22.306" v="15" actId="478"/>
          <ac:spMkLst>
            <pc:docMk/>
            <pc:sldMk cId="1483691792" sldId="263"/>
            <ac:spMk id="29" creationId="{D096CE8E-843B-4C5B-8003-9E0A940E284A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30" creationId="{96D9E996-9A1F-4879-99E8-863105A52444}"/>
          </ac:spMkLst>
        </pc:spChg>
        <pc:spChg chg="mod">
          <ac:chgData name="Garayburu-Caruso, Vanessa A" userId="e129c12f-749a-4310-80b6-042d2c75f741" providerId="ADAL" clId="{BDE9D4B7-D194-4151-8169-6202A9EC195B}" dt="2026-07-15T23:30:29.143" v="45" actId="1038"/>
          <ac:spMkLst>
            <pc:docMk/>
            <pc:sldMk cId="1483691792" sldId="263"/>
            <ac:spMk id="34" creationId="{0D934F7F-568B-41A2-9065-F9E03000CAB1}"/>
          </ac:spMkLst>
        </pc:spChg>
        <pc:spChg chg="del">
          <ac:chgData name="Garayburu-Caruso, Vanessa A" userId="e129c12f-749a-4310-80b6-042d2c75f741" providerId="ADAL" clId="{BDE9D4B7-D194-4151-8169-6202A9EC195B}" dt="2026-07-15T23:30:23.941" v="16" actId="478"/>
          <ac:spMkLst>
            <pc:docMk/>
            <pc:sldMk cId="1483691792" sldId="263"/>
            <ac:spMk id="36" creationId="{BFD7D504-FBFC-4301-8180-8DB245B92CC2}"/>
          </ac:spMkLst>
        </pc:spChg>
        <pc:spChg chg="del">
          <ac:chgData name="Garayburu-Caruso, Vanessa A" userId="e129c12f-749a-4310-80b6-042d2c75f741" providerId="ADAL" clId="{BDE9D4B7-D194-4151-8169-6202A9EC195B}" dt="2026-07-15T23:30:18.611" v="13" actId="478"/>
          <ac:spMkLst>
            <pc:docMk/>
            <pc:sldMk cId="1483691792" sldId="263"/>
            <ac:spMk id="37" creationId="{F4A9C03E-81F5-4284-9B68-1A8E1CFDDC55}"/>
          </ac:spMkLst>
        </pc:spChg>
        <pc:spChg chg="del mod">
          <ac:chgData name="Garayburu-Caruso, Vanessa A" userId="e129c12f-749a-4310-80b6-042d2c75f741" providerId="ADAL" clId="{BDE9D4B7-D194-4151-8169-6202A9EC195B}" dt="2026-07-15T23:30:34.308" v="46" actId="478"/>
          <ac:spMkLst>
            <pc:docMk/>
            <pc:sldMk cId="1483691792" sldId="263"/>
            <ac:spMk id="38" creationId="{5FFD91E5-8B83-4320-AE58-DF4A92536A8F}"/>
          </ac:spMkLst>
        </pc:spChg>
      </pc:sldChg>
      <pc:sldChg chg="modSp del mod">
        <pc:chgData name="Garayburu-Caruso, Vanessa A" userId="e129c12f-749a-4310-80b6-042d2c75f741" providerId="ADAL" clId="{BDE9D4B7-D194-4151-8169-6202A9EC195B}" dt="2026-07-15T23:30:52.899" v="50" actId="47"/>
        <pc:sldMkLst>
          <pc:docMk/>
          <pc:sldMk cId="1271813894" sldId="264"/>
        </pc:sldMkLst>
        <pc:spChg chg="mod">
          <ac:chgData name="Garayburu-Caruso, Vanessa A" userId="e129c12f-749a-4310-80b6-042d2c75f741" providerId="ADAL" clId="{BDE9D4B7-D194-4151-8169-6202A9EC195B}" dt="2026-07-15T23:22:48.933" v="8" actId="27636"/>
          <ac:spMkLst>
            <pc:docMk/>
            <pc:sldMk cId="1271813894" sldId="264"/>
            <ac:spMk id="2" creationId="{875154B0-DD85-49D3-AC01-AD3749D43DD2}"/>
          </ac:spMkLst>
        </pc:spChg>
        <pc:spChg chg="mod">
          <ac:chgData name="Garayburu-Caruso, Vanessa A" userId="e129c12f-749a-4310-80b6-042d2c75f741" providerId="ADAL" clId="{BDE9D4B7-D194-4151-8169-6202A9EC195B}" dt="2026-07-15T23:22:48.936" v="9" actId="27636"/>
          <ac:spMkLst>
            <pc:docMk/>
            <pc:sldMk cId="1271813894" sldId="264"/>
            <ac:spMk id="12" creationId="{17C60E1A-5D0B-4AB6-BBDA-938EBEB935BF}"/>
          </ac:spMkLst>
        </pc:spChg>
      </pc:sldChg>
      <pc:sldChg chg="addSp modSp new mod">
        <pc:chgData name="Garayburu-Caruso, Vanessa A" userId="e129c12f-749a-4310-80b6-042d2c75f741" providerId="ADAL" clId="{BDE9D4B7-D194-4151-8169-6202A9EC195B}" dt="2026-07-15T23:35:31.118" v="60" actId="14100"/>
        <pc:sldMkLst>
          <pc:docMk/>
          <pc:sldMk cId="3059785713" sldId="264"/>
        </pc:sldMkLst>
        <pc:graphicFrameChg chg="add mod modGraphic">
          <ac:chgData name="Garayburu-Caruso, Vanessa A" userId="e129c12f-749a-4310-80b6-042d2c75f741" providerId="ADAL" clId="{BDE9D4B7-D194-4151-8169-6202A9EC195B}" dt="2026-07-15T23:35:31.118" v="60" actId="14100"/>
          <ac:graphicFrameMkLst>
            <pc:docMk/>
            <pc:sldMk cId="3059785713" sldId="264"/>
            <ac:graphicFrameMk id="2" creationId="{26B45476-AB5D-985B-5D41-6630C3C60645}"/>
          </ac:graphicFrameMkLst>
        </pc:graphicFrameChg>
      </pc:sldChg>
      <pc:sldChg chg="addSp modSp new mod">
        <pc:chgData name="Garayburu-Caruso, Vanessa A" userId="e129c12f-749a-4310-80b6-042d2c75f741" providerId="ADAL" clId="{BDE9D4B7-D194-4151-8169-6202A9EC195B}" dt="2026-07-15T23:55:19.226" v="63"/>
        <pc:sldMkLst>
          <pc:docMk/>
          <pc:sldMk cId="2312771591" sldId="265"/>
        </pc:sldMkLst>
        <pc:picChg chg="add mod">
          <ac:chgData name="Garayburu-Caruso, Vanessa A" userId="e129c12f-749a-4310-80b6-042d2c75f741" providerId="ADAL" clId="{BDE9D4B7-D194-4151-8169-6202A9EC195B}" dt="2026-07-15T23:55:19.226" v="63"/>
          <ac:picMkLst>
            <pc:docMk/>
            <pc:sldMk cId="2312771591" sldId="265"/>
            <ac:picMk id="3" creationId="{5FC4CA6C-9DA5-B3DF-CBB4-C47F386396EF}"/>
          </ac:picMkLst>
        </pc:picChg>
      </pc:sldChg>
      <pc:sldChg chg="addSp modSp new mod">
        <pc:chgData name="Garayburu-Caruso, Vanessa A" userId="e129c12f-749a-4310-80b6-042d2c75f741" providerId="ADAL" clId="{BDE9D4B7-D194-4151-8169-6202A9EC195B}" dt="2026-07-15T23:55:30.478" v="66"/>
        <pc:sldMkLst>
          <pc:docMk/>
          <pc:sldMk cId="2054519018" sldId="266"/>
        </pc:sldMkLst>
        <pc:picChg chg="add mod">
          <ac:chgData name="Garayburu-Caruso, Vanessa A" userId="e129c12f-749a-4310-80b6-042d2c75f741" providerId="ADAL" clId="{BDE9D4B7-D194-4151-8169-6202A9EC195B}" dt="2026-07-15T23:55:30.478" v="66"/>
          <ac:picMkLst>
            <pc:docMk/>
            <pc:sldMk cId="2054519018" sldId="266"/>
            <ac:picMk id="3" creationId="{0F779AB9-32BB-5F75-2896-CB2FB59C84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Potential substrate-use phenotypes were partially reflected in field-expressed microbial functions. The broad winter/early-spring </a:t>
            </a:r>
            <a:r>
              <a:rPr lang="en-US" err="1"/>
              <a:t>MicroResp</a:t>
            </a:r>
            <a:r>
              <a:rPr lang="en-US"/>
              <a:t> phenotype corresponded with winter- and spring-active transcriptomic programs and was recovered as a shared MEFISTO factor. In contrast, the sharp fall organic-acid pulse was weakly represented in the field transcriptome. Field transcription also contained a strong early-summer program that was not apparent in </a:t>
            </a:r>
            <a:r>
              <a:rPr lang="en-US" err="1"/>
              <a:t>MicroResp</a:t>
            </a:r>
            <a:r>
              <a:rPr lang="en-US"/>
              <a:t>. Thus, laboratory substrate-use potential and field gene expression share seasonal structure but are not interchangeable measures of microbial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06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E563952-F4D2-472F-87AD-DB90C96C8A65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SOILS SFA | PROSSER TIME SERIES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CB1FA2-D46F-464E-8DFB-96751AC0C0FE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9715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Temporal clustering of significant BRITE pathways and KOs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DB69-E727-4EBE-B86F-B946693FC18C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11391900" cy="476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28AC9-19F7-45B3-AF81-0441A6C6B5DC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9239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GAM-fitted metatranscriptomic trajectories after KEGG exclusion filtering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F7AE2-2FE9-4491-9366-136068AE5C06}"/>
              </a:ext>
            </a:extLst>
          </p:cNvPr>
          <p:cNvSpPr>
            <a:spLocks noGrp="1"/>
          </p:cNvSpPr>
          <p:nvPr/>
        </p:nvSpPr>
        <p:spPr>
          <a:xfrm>
            <a:off x="400050" y="59245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C and BRITE D analyzed separately | Seven sampling dates | July 2026</a:t>
            </a:r>
          </a:p>
        </p:txBody>
      </p:sp>
    </p:spTree>
    <p:extLst>
      <p:ext uri="{BB962C8B-B14F-4D97-AF65-F5344CB8AC3E}">
        <p14:creationId xmlns:p14="http://schemas.microsoft.com/office/powerpoint/2010/main" val="1580254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1FE8324-0CB2-4E08-8A24-32D158836C7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F00F7D-4545-446D-BCDA-C730953DA91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8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functional resolutions reveal the same three timing modes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2BC53-A5DE-434A-81E1-AA4D323F44A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4F1C62-4047-4F8A-A6B8-45E4D0FAEB73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760E8-CB75-42A3-AF3D-E18B15DAE73B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Only converged, FDR-significant GAM trajectories were clustered. Each feature was z-scored, so the analysis compares temporal shape rather than absolute expression.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ACBD0-0479-42DD-A520-D2A958EA1C4E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D45F0-9286-44E6-8CFC-4DE8F65C52E9}"/>
              </a:ext>
            </a:extLst>
          </p:cNvPr>
          <p:cNvSpPr>
            <a:spLocks noGrp="1"/>
          </p:cNvSpPr>
          <p:nvPr/>
        </p:nvSpPr>
        <p:spPr>
          <a:xfrm>
            <a:off x="400050" y="2724150"/>
            <a:ext cx="3600450" cy="762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32BEC7-A90A-4CCE-AC59-DA145362EF9D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3750" b="1">
                <a:solidFill>
                  <a:srgbClr val="F8766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8766D"/>
                </a:solidFill>
                <a:latin typeface="Arial"/>
                <a:ea typeface="Arial"/>
                <a:cs typeface="Arial"/>
              </a:rPr>
              <a:t>155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2817F-78DE-430F-A9E5-20226F6C20B3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BRITE C pathways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F6145-9612-4F7E-BF89-B73E3929321D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1D6F88-A5BD-4649-99BE-0918CD1D4C9B}"/>
              </a:ext>
            </a:extLst>
          </p:cNvPr>
          <p:cNvSpPr>
            <a:spLocks noGrp="1"/>
          </p:cNvSpPr>
          <p:nvPr/>
        </p:nvSpPr>
        <p:spPr>
          <a:xfrm>
            <a:off x="4295775" y="2724150"/>
            <a:ext cx="3600450" cy="762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84151E-D494-412D-A54F-DC7DCAA3E772}"/>
              </a:ext>
            </a:extLst>
          </p:cNvPr>
          <p:cNvSpPr>
            <a:spLocks noGrp="1"/>
          </p:cNvSpPr>
          <p:nvPr/>
        </p:nvSpPr>
        <p:spPr>
          <a:xfrm>
            <a:off x="4562475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3750" b="1">
                <a:solidFill>
                  <a:srgbClr val="7CAE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CAE00"/>
                </a:solidFill>
                <a:latin typeface="Arial"/>
                <a:ea typeface="Arial"/>
                <a:cs typeface="Arial"/>
              </a:rPr>
              <a:t>995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F3241-0232-4D42-8977-7CE2A634B6D5}"/>
              </a:ext>
            </a:extLst>
          </p:cNvPr>
          <p:cNvSpPr>
            <a:spLocks noGrp="1"/>
          </p:cNvSpPr>
          <p:nvPr/>
        </p:nvSpPr>
        <p:spPr>
          <a:xfrm>
            <a:off x="4562475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significant BRITE D KOs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AFBCA-88E8-4557-9F1E-ABA9CCAAF5E1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600450" cy="2667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815395-E368-4070-936C-452E1234DFDF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3600450" cy="762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432658-BBA4-4BE6-8A1C-DC44C4F62DB6}"/>
              </a:ext>
            </a:extLst>
          </p:cNvPr>
          <p:cNvSpPr>
            <a:spLocks noGrp="1"/>
          </p:cNvSpPr>
          <p:nvPr/>
        </p:nvSpPr>
        <p:spPr>
          <a:xfrm>
            <a:off x="8458200" y="3181350"/>
            <a:ext cx="3048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l">
              <a:defRPr sz="3750" b="1">
                <a:solidFill>
                  <a:srgbClr val="00BFC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BFC4"/>
                </a:solidFill>
                <a:latin typeface="Arial"/>
                <a:ea typeface="Arial"/>
                <a:cs typeface="Arial"/>
              </a:rPr>
              <a:t>k =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8739D5-5645-40E9-AF51-B8072570C2C1}"/>
              </a:ext>
            </a:extLst>
          </p:cNvPr>
          <p:cNvSpPr>
            <a:spLocks noGrp="1"/>
          </p:cNvSpPr>
          <p:nvPr/>
        </p:nvSpPr>
        <p:spPr>
          <a:xfrm>
            <a:off x="8458200" y="4343400"/>
            <a:ext cx="3000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elbow-selected clusters at both levels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D58355-37A2-4149-8C7E-4BE9E1F97DF9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114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Inputs: GAM-fitted expression at Jun, Jul, Sep, Oct, Jan, Mar, and May. Distance: 1 − Pearson correlation. Linkage: Ward.D2.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0A2BCB-C89C-4E27-BD6B-249E06F1816A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Results/BRITE_clustering_elbow/BRITE_clustering_run_summary.csv</a:t>
            </a:r>
          </a:p>
        </p:txBody>
      </p:sp>
    </p:spTree>
    <p:extLst>
      <p:ext uri="{BB962C8B-B14F-4D97-AF65-F5344CB8AC3E}">
        <p14:creationId xmlns:p14="http://schemas.microsoft.com/office/powerpoint/2010/main" val="64077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CE9F1EF-8060-4CB9-97FA-EDFB907A8AA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CAE96-88CE-45B9-B089-CC8DE07BE989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70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annotation levels show a reproducible elbow at three clusters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3D9F3-300C-4384-81C9-89D0B0F5A373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3EFB6-EA0E-48C0-B635-1C8EEDE84DFE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66E5CA-0080-49B2-9AF0-338989CA2612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844278"/>
            <a:ext cx="5219700" cy="35885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A41229-6191-49E3-B29C-DE6F126C29CF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5334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34100" y="1844278"/>
            <a:ext cx="5219700" cy="35885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40FB5E9-92AC-4981-AB48-D1E20CBE0215}"/>
              </a:ext>
            </a:extLst>
          </p:cNvPr>
          <p:cNvSpPr>
            <a:spLocks noGrp="1"/>
          </p:cNvSpPr>
          <p:nvPr/>
        </p:nvSpPr>
        <p:spPr>
          <a:xfrm>
            <a:off x="476250" y="14002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64A7F-E1E9-470D-B830-7E1A797B9D4D}"/>
              </a:ext>
            </a:extLst>
          </p:cNvPr>
          <p:cNvSpPr>
            <a:spLocks noGrp="1"/>
          </p:cNvSpPr>
          <p:nvPr/>
        </p:nvSpPr>
        <p:spPr>
          <a:xfrm>
            <a:off x="6134100" y="1362075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62C0A3-FE3E-432F-B3A8-D7E41875AAC7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114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Most of the reduction in within-cluster dissimilarity occurs by k = 3. Additional clusters provide progressively smaller gains and would subdivide the main temporal modes.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D0847B-DCEF-4ECC-B031-3999C332F6F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elbow_diagnostics.csv for BRITE C and BRITE D. Automatic selection, no manual override.</a:t>
            </a:r>
          </a:p>
        </p:txBody>
      </p:sp>
    </p:spTree>
    <p:extLst>
      <p:ext uri="{BB962C8B-B14F-4D97-AF65-F5344CB8AC3E}">
        <p14:creationId xmlns:p14="http://schemas.microsoft.com/office/powerpoint/2010/main" val="892424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846ACD-012A-464A-A70E-99FCEEF67AD6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512582-1D9A-463F-BFE8-E70E2109F960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942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 separates early activity, winter activation, and a May rebound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D08E2F-C923-4C36-893D-F61B720BDC5E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B2CA1-8FA7-4EE3-82E5-5757266DD88C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FC053-BE6E-4045-B39B-39F68BA56643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9532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6780" y="1714500"/>
            <a:ext cx="6639791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CA2731B-3DA4-47A0-B562-B329075F774C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133350" cy="13335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EF473-7F7F-4411-9D72-A2AF51D2881A}"/>
              </a:ext>
            </a:extLst>
          </p:cNvPr>
          <p:cNvSpPr>
            <a:spLocks noGrp="1"/>
          </p:cNvSpPr>
          <p:nvPr/>
        </p:nvSpPr>
        <p:spPr>
          <a:xfrm>
            <a:off x="79438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78"/>
          </a:bodyPr>
          <a:lstStyle/>
          <a:p>
            <a:pPr algn="l"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104 pathways (67%): high in Jun–Jul, lowest in Jan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9A671-1D02-4525-956A-FD4FF04D7650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133350" cy="13335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341D0-D547-4B0D-B420-74B7BFB5239F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499" lnSpcReduction="20000"/>
          </a:bodyPr>
          <a:lstStyle/>
          <a:p>
            <a:pPr algn="l"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25 pathways (16%): low through Oct, highest in Jan–Mar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8D17AA-FB3B-47B3-A5F5-1D850B35EB52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33350" cy="13335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A2F0B7-4C97-4F8B-BCAC-EEFD935D4757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7717" lnSpcReduction="20000"/>
          </a:bodyPr>
          <a:lstStyle/>
          <a:p>
            <a:pPr algn="l"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26 pathways (17%): declines to Jan, then peaks sharply in May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D7284-DF29-49BB-AC01-544F69F9EF2D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3752850" cy="1981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6BC90-B59D-4404-92A1-9283AA669AEB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66675" cy="1981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A20D75-E7EB-40F2-9091-5FB3281D042F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High-level meaning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9CB031-31A4-47A3-B3D9-DD68423330A2}"/>
              </a:ext>
            </a:extLst>
          </p:cNvPr>
          <p:cNvSpPr>
            <a:spLocks noGrp="1"/>
          </p:cNvSpPr>
          <p:nvPr/>
        </p:nvSpPr>
        <p:spPr>
          <a:xfrm>
            <a:off x="7886700" y="4181475"/>
            <a:ext cx="33528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Most significant pathways share an early-high trajectory, but one-third follow winter or late-spring activation patterns. The pathway-level response is therefore structured, not a single seasonal shift.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96D4F7-4D28-4FA7-82DD-F691F4910A3B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brite_C/cluster_average_trajectories.csv and cluster_summary.csv</a:t>
            </a:r>
          </a:p>
        </p:txBody>
      </p:sp>
    </p:spTree>
    <p:extLst>
      <p:ext uri="{BB962C8B-B14F-4D97-AF65-F5344CB8AC3E}">
        <p14:creationId xmlns:p14="http://schemas.microsoft.com/office/powerpoint/2010/main" val="35265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BD5A5E-9195-4247-A5F2-C1731E6E1FA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6E5BB4-9696-4D29-9740-2D78377D38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778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Pathway identities suggest distinct functional programs across the year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519F41-E720-46E0-A748-19D92C187175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92A50-1B9F-40F3-B7D7-DF65612F18E4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6CE9F-516C-487B-8435-F3227AF92D50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762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3925" y="1676400"/>
            <a:ext cx="3714750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222EC3-E99F-4DE7-BE7A-5A4D7C2570B6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80D92-AFA6-476A-A2A8-D038F2206C1A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66675" cy="11430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F2225-E048-4118-98FB-5F2CF57B14AE}"/>
              </a:ext>
            </a:extLst>
          </p:cNvPr>
          <p:cNvSpPr>
            <a:spLocks noGrp="1"/>
          </p:cNvSpPr>
          <p:nvPr/>
        </p:nvSpPr>
        <p:spPr>
          <a:xfrm>
            <a:off x="5734050" y="18288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Early-high 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30E3AB-D179-47E2-9F9C-D443ECFDF274}"/>
              </a:ext>
            </a:extLst>
          </p:cNvPr>
          <p:cNvSpPr>
            <a:spLocks noGrp="1"/>
          </p:cNvSpPr>
          <p:nvPr/>
        </p:nvSpPr>
        <p:spPr>
          <a:xfrm>
            <a:off x="5734050" y="22002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Ribosome and translation, oxidative phosphorylation, arginine biosynthesis, glutathione metabolism, and lipopolysaccharide biosynthesis.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18854E-752D-4F1E-AB59-CC83512AF1D8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A5554-B46C-4B2B-94A2-F2A018991F54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66675" cy="11430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232E02-DF8F-4508-A1EE-BA5801C9326E}"/>
              </a:ext>
            </a:extLst>
          </p:cNvPr>
          <p:cNvSpPr>
            <a:spLocks noGrp="1"/>
          </p:cNvSpPr>
          <p:nvPr/>
        </p:nvSpPr>
        <p:spPr>
          <a:xfrm>
            <a:off x="5734050" y="314325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Winter-high group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21EB78-DEB8-43BB-9D64-9F23D155F273}"/>
              </a:ext>
            </a:extLst>
          </p:cNvPr>
          <p:cNvSpPr>
            <a:spLocks noGrp="1"/>
          </p:cNvSpPr>
          <p:nvPr/>
        </p:nvSpPr>
        <p:spPr>
          <a:xfrm>
            <a:off x="5734050" y="351472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Energy metabolism, transcription, RNA processing and degradation, chaperones, and protein processing.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E9D092-AC7F-4535-9195-2994EDE36A14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5D964D-554F-4AE0-BE68-720FF39F797B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66675" cy="11430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CB45F3-9C32-45E0-A3EE-C3A1E6847EEA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May-rebound group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F036BE-865E-4041-A635-284510D2F174}"/>
              </a:ext>
            </a:extLst>
          </p:cNvPr>
          <p:cNvSpPr>
            <a:spLocks noGrp="1"/>
          </p:cNvSpPr>
          <p:nvPr/>
        </p:nvSpPr>
        <p:spPr>
          <a:xfrm>
            <a:off x="5734050" y="48291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Nitrogen, methane, and sulfur metabolism, two-component signaling, proteasome activity, and arginine/proline metabolism.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1F8332-02E1-4207-886C-2AA9D75301F3}"/>
              </a:ext>
            </a:extLst>
          </p:cNvPr>
          <p:cNvSpPr>
            <a:spLocks noGrp="1"/>
          </p:cNvSpPr>
          <p:nvPr/>
        </p:nvSpPr>
        <p:spPr>
          <a:xfrm>
            <a:off x="5505450" y="56197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Interpretation caution: KEGG pathway names such as apoptosis or animal signaling reflect orthology-based labels. They should not be treated as organism-specific functions without checking the contributing KOs and taxonomy.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2EBCDA-D7DA-44B3-874F-0F6012F0FF1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Heatmap shows the 60 significant pathways with highest adjusted R²; it is not a complete functional enrichment analysis.</a:t>
            </a:r>
          </a:p>
        </p:txBody>
      </p:sp>
    </p:spTree>
    <p:extLst>
      <p:ext uri="{BB962C8B-B14F-4D97-AF65-F5344CB8AC3E}">
        <p14:creationId xmlns:p14="http://schemas.microsoft.com/office/powerpoint/2010/main" val="157325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55FE0D1-4A61-4111-9C0A-5B93AB78E8B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432386-AAAA-44D1-B52C-949631A35A2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732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KO-level clustering resolves a larger late-season activation group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3FD196-12C1-4138-9EB6-1F56B8C6D24B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2FD07-CB41-4FDD-AAA2-F5D821BD8F23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DCD39B-88A5-405C-A429-4A0ABF08111C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6953250" cy="41719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6780" y="1714500"/>
            <a:ext cx="6639791" cy="4057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8D219-8DD9-4963-B3BA-211A2F36BA4A}"/>
              </a:ext>
            </a:extLst>
          </p:cNvPr>
          <p:cNvSpPr>
            <a:spLocks noGrp="1"/>
          </p:cNvSpPr>
          <p:nvPr/>
        </p:nvSpPr>
        <p:spPr>
          <a:xfrm>
            <a:off x="7715250" y="1924050"/>
            <a:ext cx="133350" cy="13335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C4817-8958-4542-9D57-060FF9ACB89B}"/>
              </a:ext>
            </a:extLst>
          </p:cNvPr>
          <p:cNvSpPr>
            <a:spLocks noGrp="1"/>
          </p:cNvSpPr>
          <p:nvPr/>
        </p:nvSpPr>
        <p:spPr>
          <a:xfrm>
            <a:off x="7943850" y="18859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558" lnSpcReduction="10000"/>
          </a:bodyPr>
          <a:lstStyle/>
          <a:p>
            <a:pPr algn="l"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1 | 449 KOs (45%): high in Jun–Jul, sustained decline afterward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5D14AF-7F15-4FCC-BFB7-3E1347BFF68E}"/>
              </a:ext>
            </a:extLst>
          </p:cNvPr>
          <p:cNvSpPr>
            <a:spLocks noGrp="1"/>
          </p:cNvSpPr>
          <p:nvPr/>
        </p:nvSpPr>
        <p:spPr>
          <a:xfrm>
            <a:off x="7715250" y="2324100"/>
            <a:ext cx="133350" cy="13335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392CB9-5CCC-42AC-B708-38BF57783C3E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190" lnSpcReduction="20000"/>
          </a:bodyPr>
          <a:lstStyle/>
          <a:p>
            <a:pPr algn="l"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2 | 299 KOs (30%): early-high, Jan minimum, strong May rebound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7B8FE-64FC-4A0A-A0A2-6D1167B1BA1B}"/>
              </a:ext>
            </a:extLst>
          </p:cNvPr>
          <p:cNvSpPr>
            <a:spLocks noGrp="1"/>
          </p:cNvSpPr>
          <p:nvPr/>
        </p:nvSpPr>
        <p:spPr>
          <a:xfrm>
            <a:off x="7715250" y="2724150"/>
            <a:ext cx="133350" cy="13335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AF9452-9E52-46F8-9DDF-4B4052FADEA3}"/>
              </a:ext>
            </a:extLst>
          </p:cNvPr>
          <p:cNvSpPr>
            <a:spLocks noGrp="1"/>
          </p:cNvSpPr>
          <p:nvPr/>
        </p:nvSpPr>
        <p:spPr>
          <a:xfrm>
            <a:off x="7943850" y="26860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837" lnSpcReduction="10000"/>
          </a:bodyPr>
          <a:lstStyle/>
          <a:p>
            <a:pPr algn="l">
              <a:defRPr sz="123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Cluster 3 | 247 KOs (25%): low through Oct, increases from Jan to May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C905B-1D1F-47F6-A212-AC609130F276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3752850" cy="19812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36D640-E58D-4C53-AB25-EC6ADB716D61}"/>
              </a:ext>
            </a:extLst>
          </p:cNvPr>
          <p:cNvSpPr>
            <a:spLocks noGrp="1"/>
          </p:cNvSpPr>
          <p:nvPr/>
        </p:nvSpPr>
        <p:spPr>
          <a:xfrm>
            <a:off x="7658100" y="3638550"/>
            <a:ext cx="66675" cy="19812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1CDCC4-5D19-4280-9123-46A2513F709F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352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High-level meaning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289DF0-763E-4036-8A53-DAE0EB89F2AA}"/>
              </a:ext>
            </a:extLst>
          </p:cNvPr>
          <p:cNvSpPr>
            <a:spLocks noGrp="1"/>
          </p:cNvSpPr>
          <p:nvPr/>
        </p:nvSpPr>
        <p:spPr>
          <a:xfrm>
            <a:off x="7886700" y="4181475"/>
            <a:ext cx="33528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At finer resolution, 55% of significant KOs belong to rebound or late-activation trajectories. Aggregated pathways can therefore mask heterogeneous behavior among their constituent genes.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9F0A96-6C8A-4635-B5AF-8DA7379114C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brite_D/cluster_average_trajectories.csv and cluster_summary.csv</a:t>
            </a:r>
          </a:p>
        </p:txBody>
      </p:sp>
    </p:spTree>
    <p:extLst>
      <p:ext uri="{BB962C8B-B14F-4D97-AF65-F5344CB8AC3E}">
        <p14:creationId xmlns:p14="http://schemas.microsoft.com/office/powerpoint/2010/main" val="1077226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6A441F-A9D7-4738-B165-96017D29907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15BE0-2CFC-4A05-A97F-163F5660132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560" lnSpcReduction="10000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KO signals span growth machinery, respiration, and stress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789BF5-961D-4D9E-86C0-F0143B1559F0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8930BA-A859-4120-8271-D0A51E9AC44A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4056B6-DB70-4863-9719-1EBC95376465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47625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5400" y="1676400"/>
            <a:ext cx="2971800" cy="4457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18823E-D0BE-451D-9586-F37E36B09B5E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7426F9-5F55-4B4A-8B75-BB9A12DE176A}"/>
              </a:ext>
            </a:extLst>
          </p:cNvPr>
          <p:cNvSpPr>
            <a:spLocks noGrp="1"/>
          </p:cNvSpPr>
          <p:nvPr/>
        </p:nvSpPr>
        <p:spPr>
          <a:xfrm>
            <a:off x="5505450" y="1657350"/>
            <a:ext cx="66675" cy="1143000"/>
          </a:xfrm>
          <a:prstGeom prst="rect">
            <a:avLst/>
          </a:prstGeom>
          <a:solidFill>
            <a:srgbClr val="F8766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EC5540-1AC7-4E17-96F6-45643609F174}"/>
              </a:ext>
            </a:extLst>
          </p:cNvPr>
          <p:cNvSpPr>
            <a:spLocks noGrp="1"/>
          </p:cNvSpPr>
          <p:nvPr/>
        </p:nvSpPr>
        <p:spPr>
          <a:xfrm>
            <a:off x="5734050" y="18288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Early-high group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B1DE1-4EBE-4B49-9390-B19C2F6B587B}"/>
              </a:ext>
            </a:extLst>
          </p:cNvPr>
          <p:cNvSpPr>
            <a:spLocks noGrp="1"/>
          </p:cNvSpPr>
          <p:nvPr/>
        </p:nvSpPr>
        <p:spPr>
          <a:xfrm>
            <a:off x="5734050" y="22002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Many ribosomal proteins, ATPase subunits, urease subunits, polyamine transport, and osmotic or oxidative stress proteins.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5F3977-4351-4CCF-BF12-B8E684D99D0D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91E36F-CDF4-4644-88EB-0C79444D51F3}"/>
              </a:ext>
            </a:extLst>
          </p:cNvPr>
          <p:cNvSpPr>
            <a:spLocks noGrp="1"/>
          </p:cNvSpPr>
          <p:nvPr/>
        </p:nvSpPr>
        <p:spPr>
          <a:xfrm>
            <a:off x="5505450" y="2971800"/>
            <a:ext cx="66675" cy="1143000"/>
          </a:xfrm>
          <a:prstGeom prst="rect">
            <a:avLst/>
          </a:prstGeom>
          <a:solidFill>
            <a:srgbClr val="7CAE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F06DB5-8A92-46AD-A08D-AADA943BE2DE}"/>
              </a:ext>
            </a:extLst>
          </p:cNvPr>
          <p:cNvSpPr>
            <a:spLocks noGrp="1"/>
          </p:cNvSpPr>
          <p:nvPr/>
        </p:nvSpPr>
        <p:spPr>
          <a:xfrm>
            <a:off x="5734050" y="314325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May-rebound group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B78AE-0EAE-420D-978D-3EF285E5273A}"/>
              </a:ext>
            </a:extLst>
          </p:cNvPr>
          <p:cNvSpPr>
            <a:spLocks noGrp="1"/>
          </p:cNvSpPr>
          <p:nvPr/>
        </p:nvSpPr>
        <p:spPr>
          <a:xfrm>
            <a:off x="5734050" y="351472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Nitrate/nitrite and sulfur-related reductases, RNA polymerase components, proteasome and chaperonin functions, and phosphate response.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6A809-DBCE-48B2-AAB3-AEBD3D3C7482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5905500" cy="1143000"/>
          </a:xfrm>
          <a:prstGeom prst="rect">
            <a:avLst/>
          </a:prstGeom>
          <a:solidFill>
            <a:srgbClr val="F2F2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3453F-29FE-4B13-9D5F-D4775687ED45}"/>
              </a:ext>
            </a:extLst>
          </p:cNvPr>
          <p:cNvSpPr>
            <a:spLocks noGrp="1"/>
          </p:cNvSpPr>
          <p:nvPr/>
        </p:nvSpPr>
        <p:spPr>
          <a:xfrm>
            <a:off x="5505450" y="4286250"/>
            <a:ext cx="66675" cy="1143000"/>
          </a:xfrm>
          <a:prstGeom prst="rect">
            <a:avLst/>
          </a:prstGeom>
          <a:solidFill>
            <a:srgbClr val="00BF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3301B3-35CA-4C2F-AA62-6AAF823703F8}"/>
              </a:ext>
            </a:extLst>
          </p:cNvPr>
          <p:cNvSpPr>
            <a:spLocks noGrp="1"/>
          </p:cNvSpPr>
          <p:nvPr/>
        </p:nvSpPr>
        <p:spPr>
          <a:xfrm>
            <a:off x="5734050" y="4457700"/>
            <a:ext cx="550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Late-activation group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00E611-2AB3-451A-A300-064ED1AD4B1B}"/>
              </a:ext>
            </a:extLst>
          </p:cNvPr>
          <p:cNvSpPr>
            <a:spLocks noGrp="1"/>
          </p:cNvSpPr>
          <p:nvPr/>
        </p:nvSpPr>
        <p:spPr>
          <a:xfrm>
            <a:off x="5734050" y="4829175"/>
            <a:ext cx="550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Nitric oxide reductase, Fe–S cluster assembly proteins (Isc/Suf), HSP20 and GroES chaperones, and selected carbon-use genes.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AC30E-266B-4B73-8C75-F8738AA6E810}"/>
              </a:ext>
            </a:extLst>
          </p:cNvPr>
          <p:cNvSpPr>
            <a:spLocks noGrp="1"/>
          </p:cNvSpPr>
          <p:nvPr/>
        </p:nvSpPr>
        <p:spPr>
          <a:xfrm>
            <a:off x="5505450" y="56197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63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These examples come from the top 75 features ranked primarily by adjusted R². They illustrate the strongest trajectories, not the proportional functional composition of each full cluster.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6481AC-8ECA-4A0E-9D76-7C50B9D9CED3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brite_D/top_75_heatmap_features.csv</a:t>
            </a:r>
          </a:p>
        </p:txBody>
      </p:sp>
    </p:spTree>
    <p:extLst>
      <p:ext uri="{BB962C8B-B14F-4D97-AF65-F5344CB8AC3E}">
        <p14:creationId xmlns:p14="http://schemas.microsoft.com/office/powerpoint/2010/main" val="27128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8E64BB8-873F-4530-8C58-1B6835D0971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75" b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55B66"/>
                </a:solidFill>
                <a:latin typeface="Arial"/>
                <a:ea typeface="Arial"/>
                <a:cs typeface="Arial"/>
              </a:rPr>
              <a:t>BRITE TEMPORAL CLUSTERING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50F80-87AD-40DB-85F4-B9FA1D272D5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299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91"/>
          </a:bodyPr>
          <a:lstStyle/>
          <a:p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BRITE C and D agree on timing modes, but not on their prevalence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533C89-DCE1-49C7-821B-B6F3484519DC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F9C051-806F-408E-A947-9A1992A4F74D}"/>
              </a:ext>
            </a:extLst>
          </p:cNvPr>
          <p:cNvSpPr>
            <a:spLocks noGrp="1"/>
          </p:cNvSpPr>
          <p:nvPr/>
        </p:nvSpPr>
        <p:spPr>
          <a:xfrm>
            <a:off x="11287125" y="64198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028CA8-4131-4345-B803-81571F858CE5}"/>
              </a:ext>
            </a:extLst>
          </p:cNvPr>
          <p:cNvSpPr>
            <a:spLocks noGrp="1"/>
          </p:cNvSpPr>
          <p:nvPr/>
        </p:nvSpPr>
        <p:spPr>
          <a:xfrm>
            <a:off x="2280365" y="2362200"/>
            <a:ext cx="2476500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A15904-5D63-4106-AC3B-8E1AC21727C9}"/>
              </a:ext>
            </a:extLst>
          </p:cNvPr>
          <p:cNvSpPr>
            <a:spLocks noGrp="1"/>
          </p:cNvSpPr>
          <p:nvPr/>
        </p:nvSpPr>
        <p:spPr>
          <a:xfrm>
            <a:off x="2413715" y="2505075"/>
            <a:ext cx="2209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Temporal mode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D5B5DA-8E4F-46CD-A10C-782C3CB8D407}"/>
              </a:ext>
            </a:extLst>
          </p:cNvPr>
          <p:cNvSpPr>
            <a:spLocks noGrp="1"/>
          </p:cNvSpPr>
          <p:nvPr/>
        </p:nvSpPr>
        <p:spPr>
          <a:xfrm>
            <a:off x="4833065" y="2362200"/>
            <a:ext cx="2257425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1E4E-AE5C-4CCC-9E2D-F8D554CA2BD4}"/>
              </a:ext>
            </a:extLst>
          </p:cNvPr>
          <p:cNvSpPr>
            <a:spLocks noGrp="1"/>
          </p:cNvSpPr>
          <p:nvPr/>
        </p:nvSpPr>
        <p:spPr>
          <a:xfrm>
            <a:off x="4966415" y="2505075"/>
            <a:ext cx="1990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BRITE C pathways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31711-EAE0-4CFD-AB5F-13C6DE2A6DC2}"/>
              </a:ext>
            </a:extLst>
          </p:cNvPr>
          <p:cNvSpPr>
            <a:spLocks noGrp="1"/>
          </p:cNvSpPr>
          <p:nvPr/>
        </p:nvSpPr>
        <p:spPr>
          <a:xfrm>
            <a:off x="7166690" y="2362200"/>
            <a:ext cx="2257425" cy="5143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D19DBA-BED5-4F1C-BF86-D43A90CEDE89}"/>
              </a:ext>
            </a:extLst>
          </p:cNvPr>
          <p:cNvSpPr>
            <a:spLocks noGrp="1"/>
          </p:cNvSpPr>
          <p:nvPr/>
        </p:nvSpPr>
        <p:spPr>
          <a:xfrm>
            <a:off x="7300040" y="2505075"/>
            <a:ext cx="19907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BRITE D KOs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CCC62-52B0-4DD8-BCD9-30BB0F5D09B4}"/>
              </a:ext>
            </a:extLst>
          </p:cNvPr>
          <p:cNvSpPr>
            <a:spLocks noGrp="1"/>
          </p:cNvSpPr>
          <p:nvPr/>
        </p:nvSpPr>
        <p:spPr>
          <a:xfrm>
            <a:off x="2280365" y="2876550"/>
            <a:ext cx="247650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38E7B-01B4-44C0-B571-236592944081}"/>
              </a:ext>
            </a:extLst>
          </p:cNvPr>
          <p:cNvSpPr>
            <a:spLocks noGrp="1"/>
          </p:cNvSpPr>
          <p:nvPr/>
        </p:nvSpPr>
        <p:spPr>
          <a:xfrm>
            <a:off x="2413715" y="30480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Early-high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D4C9F2-3389-46E6-9E24-5C84C8624412}"/>
              </a:ext>
            </a:extLst>
          </p:cNvPr>
          <p:cNvSpPr>
            <a:spLocks noGrp="1"/>
          </p:cNvSpPr>
          <p:nvPr/>
        </p:nvSpPr>
        <p:spPr>
          <a:xfrm>
            <a:off x="4833065" y="2876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73D1C-F48A-49E4-9D9A-27E27E6C7CAE}"/>
              </a:ext>
            </a:extLst>
          </p:cNvPr>
          <p:cNvSpPr>
            <a:spLocks noGrp="1"/>
          </p:cNvSpPr>
          <p:nvPr/>
        </p:nvSpPr>
        <p:spPr>
          <a:xfrm>
            <a:off x="4966415" y="3048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104 | 67%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0D783-9B09-45D0-B764-B8CF29CE8800}"/>
              </a:ext>
            </a:extLst>
          </p:cNvPr>
          <p:cNvSpPr>
            <a:spLocks noGrp="1"/>
          </p:cNvSpPr>
          <p:nvPr/>
        </p:nvSpPr>
        <p:spPr>
          <a:xfrm>
            <a:off x="7166690" y="2876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835BD1-42D3-48E3-A806-D7C7410D9BB0}"/>
              </a:ext>
            </a:extLst>
          </p:cNvPr>
          <p:cNvSpPr>
            <a:spLocks noGrp="1"/>
          </p:cNvSpPr>
          <p:nvPr/>
        </p:nvSpPr>
        <p:spPr>
          <a:xfrm>
            <a:off x="7300040" y="3048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449 | 45%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A3161A-F7F3-43FF-9AAD-33EDBBF30B86}"/>
              </a:ext>
            </a:extLst>
          </p:cNvPr>
          <p:cNvSpPr>
            <a:spLocks noGrp="1"/>
          </p:cNvSpPr>
          <p:nvPr/>
        </p:nvSpPr>
        <p:spPr>
          <a:xfrm>
            <a:off x="2280365" y="3829050"/>
            <a:ext cx="2476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CEE6F9-E1FD-4C14-9643-8FE9592CD957}"/>
              </a:ext>
            </a:extLst>
          </p:cNvPr>
          <p:cNvSpPr>
            <a:spLocks noGrp="1"/>
          </p:cNvSpPr>
          <p:nvPr/>
        </p:nvSpPr>
        <p:spPr>
          <a:xfrm>
            <a:off x="2413715" y="40005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Winter/late activation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819B90-4131-4F85-95C6-E0D40239603B}"/>
              </a:ext>
            </a:extLst>
          </p:cNvPr>
          <p:cNvSpPr>
            <a:spLocks noGrp="1"/>
          </p:cNvSpPr>
          <p:nvPr/>
        </p:nvSpPr>
        <p:spPr>
          <a:xfrm>
            <a:off x="4833065" y="3829050"/>
            <a:ext cx="22574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B3A2CC-FA13-468D-A654-E3E0F614EA8D}"/>
              </a:ext>
            </a:extLst>
          </p:cNvPr>
          <p:cNvSpPr>
            <a:spLocks noGrp="1"/>
          </p:cNvSpPr>
          <p:nvPr/>
        </p:nvSpPr>
        <p:spPr>
          <a:xfrm>
            <a:off x="4966415" y="40005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 | 16%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968DBE-918C-4F09-BC6D-4A233615CC6A}"/>
              </a:ext>
            </a:extLst>
          </p:cNvPr>
          <p:cNvSpPr>
            <a:spLocks noGrp="1"/>
          </p:cNvSpPr>
          <p:nvPr/>
        </p:nvSpPr>
        <p:spPr>
          <a:xfrm>
            <a:off x="7166690" y="3829050"/>
            <a:ext cx="2257425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54E8BC-ABCC-4176-9150-44ABE8207DE2}"/>
              </a:ext>
            </a:extLst>
          </p:cNvPr>
          <p:cNvSpPr>
            <a:spLocks noGrp="1"/>
          </p:cNvSpPr>
          <p:nvPr/>
        </p:nvSpPr>
        <p:spPr>
          <a:xfrm>
            <a:off x="7300040" y="40005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247 | 25%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D9E996-9A1F-4879-99E8-863105A52444}"/>
              </a:ext>
            </a:extLst>
          </p:cNvPr>
          <p:cNvSpPr>
            <a:spLocks noGrp="1"/>
          </p:cNvSpPr>
          <p:nvPr/>
        </p:nvSpPr>
        <p:spPr>
          <a:xfrm>
            <a:off x="2280365" y="4781550"/>
            <a:ext cx="2476500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49C99B-01B9-4017-9B6B-8D6E4BF1C11C}"/>
              </a:ext>
            </a:extLst>
          </p:cNvPr>
          <p:cNvSpPr>
            <a:spLocks noGrp="1"/>
          </p:cNvSpPr>
          <p:nvPr/>
        </p:nvSpPr>
        <p:spPr>
          <a:xfrm>
            <a:off x="2413715" y="4953000"/>
            <a:ext cx="2209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Late-spring rebound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DDD3B4-2122-45EB-9B0C-4B8D73D0704A}"/>
              </a:ext>
            </a:extLst>
          </p:cNvPr>
          <p:cNvSpPr>
            <a:spLocks noGrp="1"/>
          </p:cNvSpPr>
          <p:nvPr/>
        </p:nvSpPr>
        <p:spPr>
          <a:xfrm>
            <a:off x="4833065" y="4781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67DBFE-92A8-40FF-9698-03C377878122}"/>
              </a:ext>
            </a:extLst>
          </p:cNvPr>
          <p:cNvSpPr>
            <a:spLocks noGrp="1"/>
          </p:cNvSpPr>
          <p:nvPr/>
        </p:nvSpPr>
        <p:spPr>
          <a:xfrm>
            <a:off x="4966415" y="4953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 | 17%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934F7F-568B-41A2-9065-F9E03000CAB1}"/>
              </a:ext>
            </a:extLst>
          </p:cNvPr>
          <p:cNvSpPr>
            <a:spLocks noGrp="1"/>
          </p:cNvSpPr>
          <p:nvPr/>
        </p:nvSpPr>
        <p:spPr>
          <a:xfrm>
            <a:off x="7166690" y="4781550"/>
            <a:ext cx="2257425" cy="95250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F6C64D4-B7AC-49B6-BA3F-FC375E64070F}"/>
              </a:ext>
            </a:extLst>
          </p:cNvPr>
          <p:cNvSpPr>
            <a:spLocks noGrp="1"/>
          </p:cNvSpPr>
          <p:nvPr/>
        </p:nvSpPr>
        <p:spPr>
          <a:xfrm>
            <a:off x="7300040" y="4953000"/>
            <a:ext cx="19907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299 | 30%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3BF01D-24A8-46B8-8DF5-8BAF4F48BCB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88" b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55B66"/>
                </a:solidFill>
                <a:latin typeface="Arial"/>
                <a:ea typeface="Arial"/>
                <a:cs typeface="Arial"/>
              </a:rPr>
              <a:t>Percentages calculated from 155 BRITE C pathways and 995 BRITE D KOs.</a:t>
            </a:r>
          </a:p>
        </p:txBody>
      </p:sp>
    </p:spTree>
    <p:extLst>
      <p:ext uri="{BB962C8B-B14F-4D97-AF65-F5344CB8AC3E}">
        <p14:creationId xmlns:p14="http://schemas.microsoft.com/office/powerpoint/2010/main" val="148369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B45476-AB5D-985B-5D41-6630C3C60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40166"/>
              </p:ext>
            </p:extLst>
          </p:nvPr>
        </p:nvGraphicFramePr>
        <p:xfrm>
          <a:off x="566669" y="141668"/>
          <a:ext cx="10805376" cy="6619741"/>
        </p:xfrm>
        <a:graphic>
          <a:graphicData uri="http://schemas.openxmlformats.org/drawingml/2006/table">
            <a:tbl>
              <a:tblPr/>
              <a:tblGrid>
                <a:gridCol w="2701344">
                  <a:extLst>
                    <a:ext uri="{9D8B030D-6E8A-4147-A177-3AD203B41FA5}">
                      <a16:colId xmlns:a16="http://schemas.microsoft.com/office/drawing/2014/main" val="2354868668"/>
                    </a:ext>
                  </a:extLst>
                </a:gridCol>
                <a:gridCol w="2701344">
                  <a:extLst>
                    <a:ext uri="{9D8B030D-6E8A-4147-A177-3AD203B41FA5}">
                      <a16:colId xmlns:a16="http://schemas.microsoft.com/office/drawing/2014/main" val="204309507"/>
                    </a:ext>
                  </a:extLst>
                </a:gridCol>
                <a:gridCol w="2701344">
                  <a:extLst>
                    <a:ext uri="{9D8B030D-6E8A-4147-A177-3AD203B41FA5}">
                      <a16:colId xmlns:a16="http://schemas.microsoft.com/office/drawing/2014/main" val="2472732828"/>
                    </a:ext>
                  </a:extLst>
                </a:gridCol>
                <a:gridCol w="2701344">
                  <a:extLst>
                    <a:ext uri="{9D8B030D-6E8A-4147-A177-3AD203B41FA5}">
                      <a16:colId xmlns:a16="http://schemas.microsoft.com/office/drawing/2014/main" val="3632002151"/>
                    </a:ext>
                  </a:extLst>
                </a:gridCol>
              </a:tblGrid>
              <a:tr h="424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Temporal pattern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MicroResp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Field transcripts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Interpretation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679441"/>
                  </a:ext>
                </a:extLst>
              </a:tr>
              <a:tr h="1067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Winter/early-spring activation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Broad Cluster 2 winter peak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BRITE C winter-high cluster and BRITE D late-activation cluster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Strongest evidence for a seasonal phenotype expressed across scales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235162"/>
                  </a:ext>
                </a:extLst>
              </a:tr>
              <a:tr h="1709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Spring rebound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Cluster 2 rebounds near June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BRITE C May-rebound pathways and BRITE D May-rebound KOs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Field transcription may accompany, or potentially precede, renewed substrate-use potential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97869"/>
                  </a:ext>
                </a:extLst>
              </a:tr>
              <a:tr h="1709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Early-summer activity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Many MicroResp substrates are relatively low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Large BRITE C and D groups are highest in June–July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Field transcription and standardized substrate-use potential are decoupled during the growing season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078576"/>
                  </a:ext>
                </a:extLst>
              </a:tr>
              <a:tr h="17093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Fall pulse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Clear MicroResp Cluster 1 peak in September–October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No comparably dominant BRITE trajectory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Fall potential may be transient, phenotype-specific, or poorly resolved by the transcript sampling</a:t>
                      </a:r>
                    </a:p>
                  </a:txBody>
                  <a:tcPr marL="73751" marR="73751" marT="36876" marB="36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646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785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C4CA6C-9DA5-B3DF-CBB4-C47F38639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2" y="457194"/>
            <a:ext cx="7772416" cy="594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71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79AB9-32BB-5F75-2896-CB2FB59C84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792" y="457194"/>
            <a:ext cx="7772416" cy="594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5190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ic xmlns="2a37cd1d-6a01-4017-b72b-5df7838ed999" xsi:nil="true"/>
    <TaxCatchAll xmlns="5cece13e-3376-4417-9525-be60b11a89a8" xsi:nil="true"/>
    <lcf76f155ced4ddcb4097134ff3c332f xmlns="2a37cd1d-6a01-4017-b72b-5df7838ed99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4BF1EED8066142A4AB9FA894223E64" ma:contentTypeVersion="18" ma:contentTypeDescription="Create a new document." ma:contentTypeScope="" ma:versionID="fa5596f2e4479d6b6a0b5cc9905d5496">
  <xsd:schema xmlns:xsd="http://www.w3.org/2001/XMLSchema" xmlns:xs="http://www.w3.org/2001/XMLSchema" xmlns:p="http://schemas.microsoft.com/office/2006/metadata/properties" xmlns:ns2="2a37cd1d-6a01-4017-b72b-5df7838ed999" xmlns:ns3="b39c92a8-dafe-4e00-987c-a07a8d43c09d" xmlns:ns4="5cece13e-3376-4417-9525-be60b11a89a8" targetNamespace="http://schemas.microsoft.com/office/2006/metadata/properties" ma:root="true" ma:fieldsID="8e7100eb0d44ae244c7ebf5c36cb8911" ns2:_="" ns3:_="" ns4:_="">
    <xsd:import namespace="2a37cd1d-6a01-4017-b72b-5df7838ed999"/>
    <xsd:import namespace="b39c92a8-dafe-4e00-987c-a07a8d43c09d"/>
    <xsd:import namespace="5cece13e-3376-4417-9525-be60b11a89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pic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37cd1d-6a01-4017-b72b-5df7838ed9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60f1aaf-6244-4bb9-9bf9-38bf373853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ic" ma:index="21" nillable="true" ma:displayName="pic" ma:format="Thumbnail" ma:internalName="pic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9c92a8-dafe-4e00-987c-a07a8d43c09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ce13e-3376-4417-9525-be60b11a89a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5f0e32d3-cbb7-4107-a801-8cf1fd25e8f5}" ma:internalName="TaxCatchAll" ma:showField="CatchAllData" ma:web="b39c92a8-dafe-4e00-987c-a07a8d43c0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BF0268-948C-495F-8E47-2C0739D474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2A1B58-037C-4576-95D6-F32FDBE08321}">
  <ds:schemaRefs>
    <ds:schemaRef ds:uri="2a37cd1d-6a01-4017-b72b-5df7838ed999"/>
    <ds:schemaRef ds:uri="5cece13e-3376-4417-9525-be60b11a89a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A060AA6-781D-4652-9212-D96A98CE56EE}">
  <ds:schemaRefs>
    <ds:schemaRef ds:uri="2a37cd1d-6a01-4017-b72b-5df7838ed999"/>
    <ds:schemaRef ds:uri="5cece13e-3376-4417-9525-be60b11a89a8"/>
    <ds:schemaRef ds:uri="b39c92a8-dafe-4e00-987c-a07a8d43c09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Microsoft Macintosh PowerPoint</Application>
  <PresentationFormat>Widescreen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Hofmockel, Kirsten S</cp:lastModifiedBy>
  <cp:revision>1</cp:revision>
  <dcterms:created xsi:type="dcterms:W3CDTF">2026-07-15T23:15:32Z</dcterms:created>
  <dcterms:modified xsi:type="dcterms:W3CDTF">2026-07-16T18:42:57Z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0x010100564BF1EED8066142A4AB9FA894223E64</vt:lpwstr>
  </property>
  <property fmtid="{D5CDD505-2E9C-101B-9397-08002B2CF9AE}" pid="3" name="MediaServiceImageTags">
    <vt:lpwstr/>
  </property>
</Properties>
</file>