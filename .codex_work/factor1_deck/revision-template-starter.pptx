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cd0d8a16cd4638" /><Relationship Type="http://schemas.openxmlformats.org/officeDocument/2006/relationships/extended-properties" Target="/docProps/app.xml" Id="R46597353fea64c73" /><Relationship Type="http://schemas.openxmlformats.org/officeDocument/2006/relationships/officeDocument" Target="/ppt/presentation.xml" Id="Rf831390bf8aa4d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b3483a5cc24f2f"/>
  </p:sldMasterIdLst>
  <p:notesMasterIdLst>
    <p:notesMasterId xmlns:r="http://schemas.openxmlformats.org/officeDocument/2006/relationships" r:id="R5166d7f780c84414"/>
  </p:notesMasterIdLst>
  <p:sldIdLst>
    <p:sldId xmlns:r="http://schemas.openxmlformats.org/officeDocument/2006/relationships" id="256" r:id="R57a0da7756c245c7"/>
    <p:sldId xmlns:r="http://schemas.openxmlformats.org/officeDocument/2006/relationships" id="257" r:id="R7549acfab6d440f0"/>
    <p:sldId xmlns:r="http://schemas.openxmlformats.org/officeDocument/2006/relationships" id="258" r:id="R94921bf29b774f40"/>
    <p:sldId xmlns:r="http://schemas.openxmlformats.org/officeDocument/2006/relationships" id="259" r:id="Rdd4e07e74d2e492b"/>
    <p:sldId xmlns:r="http://schemas.openxmlformats.org/officeDocument/2006/relationships" id="260" r:id="R58c0083aff344549"/>
    <p:sldId xmlns:r="http://schemas.openxmlformats.org/officeDocument/2006/relationships" id="261" r:id="R2350e3ac431c4c76"/>
    <p:sldId xmlns:r="http://schemas.openxmlformats.org/officeDocument/2006/relationships" id="262" r:id="R0874fcabaa8043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c24ceb9bc44d70" /><Relationship Type="http://schemas.openxmlformats.org/officeDocument/2006/relationships/slideMaster" Target="/ppt/slideMasters/slideMaster1.xml" Id="R52b3483a5cc24f2f" /><Relationship Type="http://schemas.openxmlformats.org/officeDocument/2006/relationships/notesMaster" Target="/ppt/notesMasters/notesMaster1.xml" Id="R5166d7f780c84414" /><Relationship Type="http://schemas.openxmlformats.org/officeDocument/2006/relationships/presProps" Target="/ppt/presProps.xml" Id="Rb1831e703f8f4492" /><Relationship Type="http://schemas.openxmlformats.org/officeDocument/2006/relationships/viewProps" Target="/ppt/viewProps.xml" Id="R75e385aa10f94b5a" /><Relationship Type="http://schemas.openxmlformats.org/officeDocument/2006/relationships/tableStyles" Target="/ppt/tableStyles.xml" Id="R1b960a79a49d4832" /><Relationship Type="http://schemas.openxmlformats.org/officeDocument/2006/relationships/slide" Target="/ppt/slides/slide1.xml" Id="R57a0da7756c245c7" /><Relationship Type="http://schemas.openxmlformats.org/officeDocument/2006/relationships/slide" Target="/ppt/slides/slide2.xml" Id="R7549acfab6d440f0" /><Relationship Type="http://schemas.openxmlformats.org/officeDocument/2006/relationships/slide" Target="/ppt/slides/slide3.xml" Id="R94921bf29b774f40" /><Relationship Type="http://schemas.openxmlformats.org/officeDocument/2006/relationships/slide" Target="/ppt/slides/slide4.xml" Id="Rdd4e07e74d2e492b" /><Relationship Type="http://schemas.openxmlformats.org/officeDocument/2006/relationships/slide" Target="/ppt/slides/slide5.xml" Id="R58c0083aff344549" /><Relationship Type="http://schemas.openxmlformats.org/officeDocument/2006/relationships/slide" Target="/ppt/slides/slide6.xml" Id="R2350e3ac431c4c76" /><Relationship Type="http://schemas.openxmlformats.org/officeDocument/2006/relationships/slide" Target="/ppt/slides/slide7.xml" Id="R0874fcabaa8043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ae5dd518464c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39c0514cb84eef" /><Relationship Type="http://schemas.openxmlformats.org/officeDocument/2006/relationships/notesMaster" Target="/ppt/notesMasters/notesMaster1.xml" Id="R1e6431f6ce504b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31881c3b41484f" /><Relationship Type="http://schemas.openxmlformats.org/officeDocument/2006/relationships/notesMaster" Target="/ppt/notesMasters/notesMaster1.xml" Id="R4aeb9f40d2444d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7e1ee62f41471d" /><Relationship Type="http://schemas.openxmlformats.org/officeDocument/2006/relationships/notesMaster" Target="/ppt/notesMasters/notesMaster1.xml" Id="R6ab9e6c9b3ab4f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347250e6d24987" /><Relationship Type="http://schemas.openxmlformats.org/officeDocument/2006/relationships/notesMaster" Target="/ppt/notesMasters/notesMaster1.xml" Id="R3a59c4e79a2a45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466e101e194290" /><Relationship Type="http://schemas.openxmlformats.org/officeDocument/2006/relationships/notesMaster" Target="/ppt/notesMasters/notesMaster1.xml" Id="Rd6e807c88c1d40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75fbb00e3244ab" /><Relationship Type="http://schemas.openxmlformats.org/officeDocument/2006/relationships/notesMaster" Target="/ppt/notesMasters/notesMaster1.xml" Id="R87b0d18effaf4a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c95583756c4491" /><Relationship Type="http://schemas.openxmlformats.org/officeDocument/2006/relationships/notesMaster" Target="/ppt/notesMasters/notesMaster1.xml" Id="R24335d486b5b45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Scripts/13_Factor1_expression_MicroResp_BRITE_C_D.R</a:t>
            </a:r>
          </a:p>
          <a:p xmlns:a="http://schemas.openxmlformats.org/drawingml/2006/main">
            <a:r>
              <a:t>SFA3-1-1_VGC_Storyboard_v2.docx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Results/Factor1_BRITE_MicroResp/factor1_gene_summary.csv</a:t>
            </a:r>
          </a:p>
          <a:p xmlns:a="http://schemas.openxmlformats.org/drawingml/2006/main">
            <a:r>
              <a:t>Results/Factor1_BRITE_MicroResp/run_manifest.csv</a:t>
            </a:r>
          </a:p>
          <a:p xmlns:a="http://schemas.openxmlformats.org/drawingml/2006/main">
            <a:r>
              <a:t>Scripts/13_Factor1_expression_MicroResp_BRITE_C_D.R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Results/Factor1_BRITE_MicroResp/factor1_brite_C_summary.csv</a:t>
            </a:r>
          </a:p>
          <a:p xmlns:a="http://schemas.openxmlformats.org/drawingml/2006/main">
            <a:r>
              <a:t>Results/Factor1_BRITE_MicroResp/factor1_brite_D_summary.csv</a:t>
            </a:r>
          </a:p>
          <a:p xmlns:a="http://schemas.openxmlformats.org/drawingml/2006/main">
            <a:r>
              <a:t>Figures/Factor1_BRITE_MicroResp/factor1_brite_C_gene_counts.png</a:t>
            </a:r>
          </a:p>
          <a:p xmlns:a="http://schemas.openxmlformats.org/drawingml/2006/main">
            <a:r>
              <a:t>Figures/Factor1_BRITE_MicroResp/factor1_brite_D_gene_counts.png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Results/Factor1_BRITE_MicroResp/factor1_microresp_overlap_summary.csv</a:t>
            </a:r>
          </a:p>
          <a:p xmlns:a="http://schemas.openxmlformats.org/drawingml/2006/main">
            <a:r>
              <a:t>Results/Factor1_BRITE_MicroResp/clustering/Factor1_MicroResp_clustering_run_summary.csv</a:t>
            </a:r>
          </a:p>
          <a:p xmlns:a="http://schemas.openxmlformats.org/drawingml/2006/main">
            <a:r>
              <a:t>Results/Factor1_BRITE_MicroResp/clustering/brite_C_Factor1_MicroResp_elbow_diagnostics.csv</a:t>
            </a:r>
          </a:p>
          <a:p xmlns:a="http://schemas.openxmlformats.org/drawingml/2006/main">
            <a:r>
              <a:t>Results/Factor1_BRITE_MicroResp/clustering/brite_D_Factor1_MicroResp_elbow_diagnostics.csv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Results/Factor1_BRITE_MicroResp/clustering/brite_C_Factor1_MicroResp_cluster_assignments.csv</a:t>
            </a:r>
          </a:p>
          <a:p xmlns:a="http://schemas.openxmlformats.org/drawingml/2006/main">
            <a:r>
              <a:t>Results/Factor1_BRITE_MicroResp/clustering/brite_C_Factor1_MicroResp_cluster_average_trajectories.csv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Results/Factor1_BRITE_MicroResp/clustering/brite_D_Factor1_MicroResp_cluster_assignments.csv</a:t>
            </a:r>
          </a:p>
          <a:p xmlns:a="http://schemas.openxmlformats.org/drawingml/2006/main">
            <a:r>
              <a:t>Results/Factor1_BRITE_MicroResp/clustering/brite_D_Factor1_MicroResp_cluster_average_trajectories.csv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SFA3-1-1_VGC_Storyboard_v2.docx</a:t>
            </a:r>
          </a:p>
          <a:p xmlns:a="http://schemas.openxmlformats.org/drawingml/2006/main">
            <a:r>
              <a:t>Data/factor1_all_omic_genes.csv</a:t>
            </a:r>
          </a:p>
          <a:p xmlns:a="http://schemas.openxmlformats.org/drawingml/2006/main">
            <a:r>
              <a:t>Results/Factor1_BRITE_MicroResp/clustering/Factor1_MicroResp_clustering_run_summary.csv</a:t>
            </a:r>
          </a:p>
          <a:p xmlns:a="http://schemas.openxmlformats.org/drawingml/2006/main">
            <a:r>
              <a:t>Scripts/13_Factor1_expression_MicroResp_BRITE_C_D.R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0939229c94e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9cbaf2f558423f" /><Relationship Type="http://schemas.openxmlformats.org/officeDocument/2006/relationships/slideLayout" Target="/ppt/slideLayouts/slideLayout1.xml" Id="R49b1095c028e41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b1095c028e41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5f494b9464155" /><Relationship Type="http://schemas.openxmlformats.org/officeDocument/2006/relationships/notesSlide" Target="/ppt/notesSlides/notesSlide1.xml" Id="Rb0326968076243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9789016054d29" /><Relationship Type="http://schemas.openxmlformats.org/officeDocument/2006/relationships/notesSlide" Target="/ppt/notesSlides/notesSlide2.xml" Id="Rfcaa3f9399fb41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39e7ccd844d73" /><Relationship Type="http://schemas.openxmlformats.org/officeDocument/2006/relationships/image" Target="/ppt/media/image.png" Id="R5c265975384c4286" /><Relationship Type="http://schemas.openxmlformats.org/officeDocument/2006/relationships/image" Target="/ppt/media/image2.png" Id="R84731b10058247de" /><Relationship Type="http://schemas.openxmlformats.org/officeDocument/2006/relationships/notesSlide" Target="/ppt/notesSlides/notesSlide3.xml" Id="R4c73537e23e94a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11cbb6aff4670" /><Relationship Type="http://schemas.openxmlformats.org/officeDocument/2006/relationships/image" Target="/ppt/media/image.png" Id="R7c693da82285486c" /><Relationship Type="http://schemas.openxmlformats.org/officeDocument/2006/relationships/image" Target="/ppt/media/image2.png" Id="R2f3dc710d7d44a7f" /><Relationship Type="http://schemas.openxmlformats.org/officeDocument/2006/relationships/notesSlide" Target="/ppt/notesSlides/notesSlide4.xml" Id="R1f20960d2d4746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a1ed8818749ed" /><Relationship Type="http://schemas.openxmlformats.org/officeDocument/2006/relationships/image" Target="/ppt/media/image3.png" Id="R2dc5aa18b9434a2c" /><Relationship Type="http://schemas.openxmlformats.org/officeDocument/2006/relationships/notesSlide" Target="/ppt/notesSlides/notesSlide5.xml" Id="Raa5ae58621074c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b072a87c44abe" /><Relationship Type="http://schemas.openxmlformats.org/officeDocument/2006/relationships/image" Target="/ppt/media/image4.png" Id="R7a0900bd81a44438" /><Relationship Type="http://schemas.openxmlformats.org/officeDocument/2006/relationships/notesSlide" Target="/ppt/notesSlides/notesSlide6.xml" Id="R17013327d4f54b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14bccef4c4959" /><Relationship Type="http://schemas.openxmlformats.org/officeDocument/2006/relationships/notesSlide" Target="/ppt/notesSlides/notesSlide7.xml" Id="R11874929d3c34e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E563952-F4D2-472F-87AD-DB90C96C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SOILS SFA | PROSSER TIME SERIES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CB1FA2-D46F-464E-8DFB-96751AC0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71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MEFISTO Factor 1 genes contain three seasonal expression programs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6C5DB69-E727-4EBE-B86F-B946693F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C628AC9-19F7-45B3-AF81-0441A6C6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gene selection, BRITE aggregation, temporal GAMs, MicroResp overlap, and trajectory clustering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EEF7AE2-2FE9-4491-9366-136068AE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100% irrigation metatranscriptomes | Seven dates | July 2026</a:t>
            </a:r>
          </a:p>
        </p:txBody>
      </p:sp>
    </p:spTree>
    <p:extLst>
      <p:ext uri="{BB962C8B-B14F-4D97-AF65-F5344CB8AC3E}">
        <p14:creationId xmlns:p14="http://schemas.microsoft.com/office/powerpoint/2010/main" val="15802543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1FE8324-0CB2-4E08-8A24-32D15883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FOLLOW-ON ANALYSIS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F00F7D-4545-446D-BCDA-C730953D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06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workflow asks which Factor 1 transcripts align with MicroResp-linked functions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D2BC53-A5DE-434A-81E1-AA4D323F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4F1C62-4047-4F8A-A6B8-45E4D0FA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5B760E8-CB75-42A3-AF3D-E18B15DA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MEFISTO Factor 1 features were filtered from the original expression matrix, annotated to KEGG, aggregated to BRITE C pathways and BRITE D KOs, modeled through time, intersected with the MicroResp map, and clustered by fitted trajectory shape.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4ACBD0-0479-42DD-A520-D2A958E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72D45F0-9286-44E6-8CFC-4DE8F65C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F32BEC7-A90A-4CCE-AC59-DA145362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8766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8766D"/>
                </a:solidFill>
                <a:latin typeface="Arial"/>
                <a:ea typeface="Arial"/>
                <a:cs typeface="Arial"/>
              </a:rPr>
              <a:t>770k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D2817F-78DE-430F-A9E5-20226F6C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unique Factor 1 transcript features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EFF6145-9612-4F7E-BF89-B73E3929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81D6F88-A5BD-4649-99BE-0918CD1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284151E-D494-412D-A54F-DC7DCAA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7CAE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7CAE00"/>
                </a:solidFill>
                <a:latin typeface="Arial"/>
                <a:ea typeface="Arial"/>
                <a:cs typeface="Arial"/>
              </a:rPr>
              <a:t>516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0F3241-0232-4D42-8977-7CE2A634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unique BRITE C pathways represented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ACAFBCA-88E8-4557-9F1E-ABA9CCAA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1815395-E368-4070-936C-452E1234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D432658-BBA4-4BE6-8A1C-DC44C4F6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BFC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BFC4"/>
                </a:solidFill>
                <a:latin typeface="Arial"/>
                <a:ea typeface="Arial"/>
                <a:cs typeface="Arial"/>
              </a:rPr>
              <a:t>6,789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F8739D5-5645-40E9-AF51-B8072570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unique BRITE D KOs represented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2D58355-37A2-4149-8C7E-4BE9E1F9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GAM: Expression ~ s(time, k = 6) + s(Plot, random effect). Clustering: row z-score, 1 - Pearson correlation, Ward.D2.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10A2BCB-C89C-4E27-BD6B-249E06F1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factor1_gene_summary.csv and run_manifest.csv</a:t>
            </a:r>
          </a:p>
        </p:txBody>
      </p:sp>
    </p:spTree>
    <p:extLst>
      <p:ext uri="{BB962C8B-B14F-4D97-AF65-F5344CB8AC3E}">
        <p14:creationId xmlns:p14="http://schemas.microsoft.com/office/powerpoint/2010/main" val="640776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CE9F1EF-8060-4CB9-97FA-EDFB907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FUNCTIONAL BREADTH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BCAE96-88CE-45B9-B089-CC8DE07B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76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Factor 1 genes span broad pathway- and KO-level functional space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183D9F3-300C-4384-81C9-89D0B0F5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F3EFB6-EA0E-48C0-B635-1C8EEDE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66E5CA-0080-49B2-9AF0-338989C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65975384c4286"/>
          <a:stretch xmlns:a="http://schemas.openxmlformats.org/drawingml/2006/main"/>
        </p:blipFill>
        <p:spPr>
          <a:xfrm xmlns:a="http://schemas.openxmlformats.org/drawingml/2006/main">
            <a:off x="708986" y="1844278"/>
            <a:ext cx="4716127" cy="3588544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A41229-6191-49E3-B29C-DE6F126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31b10058247de"/>
          <a:stretch xmlns:a="http://schemas.openxmlformats.org/drawingml/2006/main"/>
        </p:blipFill>
        <p:spPr>
          <a:xfrm xmlns:a="http://schemas.openxmlformats.org/drawingml/2006/main">
            <a:off x="7119506" y="1844278"/>
            <a:ext cx="3248888" cy="3588544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0FB5E9-92AC-4981-AB48-D1E20CB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9D64A7F-E1E9-470D-B830-7E1A797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620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762C0A3-FE3E-432F-B3A8-D7E41875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most gene-rich annotations include central metabolism, biosynthesis, transport, energy conservation, and information-processing functions.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D0847B-DCEF-4ECC-B031-3999C33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Bars count Factor 1 genes per annotation; they do not show loading sign or temporal significance.</a:t>
            </a:r>
          </a:p>
        </p:txBody>
      </p:sp>
    </p:spTree>
    <p:extLst>
      <p:ext uri="{BB962C8B-B14F-4D97-AF65-F5344CB8AC3E}">
        <p14:creationId xmlns:p14="http://schemas.microsoft.com/office/powerpoint/2010/main" val="8924240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CE9F1EF-8060-4CB9-97FA-EDFB907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 OVERLAP AND CLUSTERING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3BCAE96-88CE-45B9-B089-CC8DE07B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90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MicroResp-linked Factor 1 subset supports three expression clusters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183D9F3-300C-4384-81C9-89D0B0F5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3F3EFB6-EA0E-48C0-B635-1C8EEDE8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66E5CA-0080-49B2-9AF0-338989C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93da82285486c"/>
          <a:stretch xmlns:a="http://schemas.openxmlformats.org/drawingml/2006/main"/>
        </p:blipFill>
        <p:spPr>
          <a:xfrm xmlns:a="http://schemas.openxmlformats.org/drawingml/2006/main">
            <a:off x="708986" y="1844278"/>
            <a:ext cx="4716127" cy="3588544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A41229-6191-49E3-B29C-DE6F126C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2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dc710d7d44a7f"/>
          <a:stretch xmlns:a="http://schemas.openxmlformats.org/drawingml/2006/main"/>
        </p:blipFill>
        <p:spPr>
          <a:xfrm xmlns:a="http://schemas.openxmlformats.org/drawingml/2006/main">
            <a:off x="7119506" y="1844278"/>
            <a:ext cx="3248888" cy="3588544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0FB5E9-92AC-4981-AB48-D1E20CB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0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9D64A7F-E1E9-470D-B830-7E1A797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620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762C0A3-FE3E-432F-B3A8-D7E41875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MicroResp mapping matched 31/516 Factor 1 pathways and 1,113/6,789 Factor 1 KOs. After model matching, 31 pathways and 985 KOs were clustered; both elbows selected k = 3.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D0847B-DCEF-4ECC-B031-3999C332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Target-set FDR significance: 20 BRITE C pathways and 230 BRITE D KOs.</a:t>
            </a:r>
          </a:p>
        </p:txBody>
      </p:sp>
    </p:spTree>
    <p:extLst>
      <p:ext uri="{BB962C8B-B14F-4D97-AF65-F5344CB8AC3E}">
        <p14:creationId xmlns:p14="http://schemas.microsoft.com/office/powerpoint/2010/main" val="8924240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2846ACD-012A-464A-A70E-99FCEEF6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| BRITE C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512582-1D9A-463F-BFE8-E70E2109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901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Pathway clusters separate early-high, rebound, and late-activation modes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4D08E2F-C923-4C36-893D-F61B720B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42B2CA1-8FA7-4EE3-82E5-5757266D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0FFC053-BE6E-4045-B39B-39F68BA5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6953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5aa18b9434a2c"/>
          <a:stretch xmlns:a="http://schemas.openxmlformats.org/drawingml/2006/main"/>
        </p:blipFill>
        <p:spPr>
          <a:xfrm xmlns:a="http://schemas.openxmlformats.org/drawingml/2006/main">
            <a:off x="556780" y="1714500"/>
            <a:ext cx="6639791" cy="405765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A2731B-3DA4-47A0-B562-B329075F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E3EF473-7F7F-4411-9D72-A2AF51D2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35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1 | 12 pathways: highest in Jun-Jul, minimum in Jan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919A671-1D02-4525-956A-FD4FF04D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7D341D0-D547-4B0D-B420-74B7BFB5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801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2 | 13 pathways: early-high, Jan minimum, strong May rebound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A8D17AA-FB3B-47B3-A5F5-1D850B35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0A2F0B7-4C97-4F8B-BCAC-EEFD935D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72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| 6 pathways: low through Oct, then rises to a May maximum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71D7284-DF29-49BB-AC01-544F69F9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37528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5F6BC90-B59D-4404-92A1-9283AA66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CA20D75-E7EB-40F2-9091-5FB3281D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Connection to Factor 1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19CB031-31A4-47A3-B3D9-DD684233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81475"/>
            <a:ext cx="3352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most closely resembles the winter/early-spring activation described in the storyboard. Clusters 1 and 2 show that Factor 1 membership also contains early-season and rebound programs.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E96D4F7-4D28-4FA7-82DD-F691F491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brite_C Factor 1 cluster assignments and average trajectories</a:t>
            </a:r>
          </a:p>
        </p:txBody>
      </p:sp>
    </p:spTree>
    <p:extLst>
      <p:ext uri="{BB962C8B-B14F-4D97-AF65-F5344CB8AC3E}">
        <p14:creationId xmlns:p14="http://schemas.microsoft.com/office/powerpoint/2010/main" val="3526535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5FE0D1-4A61-4111-9C0A-5B93AB78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| BRITE D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432386-AAAA-44D1-B52C-949631A3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KO-level clusters resolve a large sustained late-activation program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C3FD196-12C1-4138-9EB6-1F56B8C6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012FD07-CB41-4FDD-AAA2-F5D821BD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9DCD39B-88A5-405C-A429-4A0ABF08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69532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900bd81a44438"/>
          <a:stretch xmlns:a="http://schemas.openxmlformats.org/drawingml/2006/main"/>
        </p:blipFill>
        <p:spPr>
          <a:xfrm xmlns:a="http://schemas.openxmlformats.org/drawingml/2006/main">
            <a:off x="556780" y="1714500"/>
            <a:ext cx="6639791" cy="405765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C78D219-8DD9-4963-B3BA-211A2F36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02C4817-8958-4542-9D57-060FF9AC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36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1 | 477 KOs: highest in Jun-Jul, sustained decline afterward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5D14AF-7F15-4FCC-BFB7-3E1347BF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3392CB9-5CCC-42AC-B708-38BF5778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192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2 | 245 KOs: early-high, Jan minimum, strong May rebound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137B8FE-64FC-4A0A-A0A2-6D1167B1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BAF9452-9E52-46F8-9DDF-4B4052FA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606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| 263 KOs: low in summer, increases from Jan through May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DC905B-1D1F-47F6-A212-AC609130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37528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336D640-E58D-4C53-AB25-EC6ADB71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21CDCC4-5D19-4280-9123-46A2513F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Functional examples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B289DF0-763E-4036-8A53-DAE0EB89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81475"/>
            <a:ext cx="3352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Late/rebound groups include nitrate and nitrite reduction, storage-carbon, amino-acid, sugar-use, and N-oxide functions. Early-high genes include urease, polyamine, TCA, and aromatic-use functions.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09F0A96-6C8A-4635-B5AF-8DA73791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brite_D Factor 1 cluster assignments and average trajectories</a:t>
            </a:r>
          </a:p>
        </p:txBody>
      </p:sp>
    </p:spTree>
    <p:extLst>
      <p:ext uri="{BB962C8B-B14F-4D97-AF65-F5344CB8AC3E}">
        <p14:creationId xmlns:p14="http://schemas.microsoft.com/office/powerpoint/2010/main" val="10772262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1FE8324-0CB2-4E08-8A24-32D15883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STORYBOARD SYNTHESIS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F00F7D-4545-446D-BCDA-C730953D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2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773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Factor 1 supports partial coordination, with an important sign-specific caveat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D2BC53-A5DE-434A-81E1-AA4D323F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4F1C62-4047-4F8A-A6B8-45E4D0FA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5B760E8-CB75-42A3-AF3D-E18B15DA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 late-activation clusters support the storyboard's interpretation that part of the Factor 1 transcript signal tracks the winter/early-spring MicroResp phenotype. Other clusters reveal early-high and rebound programs within the same Factor 1 feature set.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4ACBD0-0479-42DD-A520-D2A958EA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72D45F0-9286-44E6-8CFC-4DE8F65C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F32BEC7-A90A-4CCE-AC59-DA145362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8766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8766D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D2817F-78DE-430F-A9E5-20226F6C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263 KOs and 6 pathways rise from winter toward May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EFF6145-9612-4F7E-BF89-B73E3929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81D6F88-A5BD-4649-99BE-0918CD1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284151E-D494-412D-A54F-DC7DCAA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7CAE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7CAE00"/>
                </a:solidFill>
                <a:latin typeface="Arial"/>
                <a:ea typeface="Arial"/>
                <a:cs typeface="Arial"/>
              </a:rPr>
              <a:t>Caveat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0F3241-0232-4D42-8977-7CE2A634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This analysis combines positive and negative Factor 1 loadings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ACAFBCA-88E8-4557-9F1E-ABA9CCAA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1815395-E368-4070-936C-452E1234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600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D432658-BBA4-4BE6-8A1C-DC44C4F6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BFC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BFC4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F8739D5-5645-40E9-AF51-B8072570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Repeat clustering separately by loading sign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2D58355-37A2-4149-8C7E-4BE9E1F9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Factor 1 membership is broader than the sign-specific reconstructed trajectory. Separating loading direction would provide the cleanest direct test of the storyboard's negative-weight winter signal.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10A2BCB-C89C-4E27-BD6B-249E06F1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Factor 1 cluster outputs and manuscript storyboard</a:t>
            </a:r>
          </a:p>
        </p:txBody>
      </p:sp>
    </p:spTree>
    <p:extLst>
      <p:ext uri="{BB962C8B-B14F-4D97-AF65-F5344CB8AC3E}">
        <p14:creationId xmlns:p14="http://schemas.microsoft.com/office/powerpoint/2010/main" val="640776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2026-07-27T01:59:05.8140000Z</dcterms:created>
  <dcterms:modified xsi:type="dcterms:W3CDTF">2026-07-27T01:59:05.8140000Z</dcterms:modified>
</coreProperties>
</file>