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a287ea3df49b7" /><Relationship Type="http://schemas.openxmlformats.org/officeDocument/2006/relationships/extended-properties" Target="/docProps/app.xml" Id="Rf0d0365028854217" /><Relationship Type="http://schemas.openxmlformats.org/officeDocument/2006/relationships/officeDocument" Target="/ppt/presentation.xml" Id="R45aacfc3f8c645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d35ae3e88e431a"/>
  </p:sldMasterIdLst>
  <p:notesMasterIdLst>
    <p:notesMasterId xmlns:r="http://schemas.openxmlformats.org/officeDocument/2006/relationships" r:id="R48c7b05605924e7f"/>
  </p:notesMasterIdLst>
  <p:sldIdLst>
    <p:sldId xmlns:r="http://schemas.openxmlformats.org/officeDocument/2006/relationships" id="256" r:id="R573d9d195f29438b"/>
    <p:sldId xmlns:r="http://schemas.openxmlformats.org/officeDocument/2006/relationships" id="257" r:id="R47859f4d0a4449e4"/>
    <p:sldId xmlns:r="http://schemas.openxmlformats.org/officeDocument/2006/relationships" id="258" r:id="R46c7350a73ba4e46"/>
    <p:sldId xmlns:r="http://schemas.openxmlformats.org/officeDocument/2006/relationships" id="259" r:id="Rc70e6b493839442c"/>
    <p:sldId xmlns:r="http://schemas.openxmlformats.org/officeDocument/2006/relationships" id="260" r:id="Ra972290ac7594e3c"/>
    <p:sldId xmlns:r="http://schemas.openxmlformats.org/officeDocument/2006/relationships" id="261" r:id="R9e4f083dbeb54c41"/>
    <p:sldId xmlns:r="http://schemas.openxmlformats.org/officeDocument/2006/relationships" id="262" r:id="R09f60ccf87374e36"/>
    <p:sldId xmlns:r="http://schemas.openxmlformats.org/officeDocument/2006/relationships" id="263" r:id="R21a02d72be74464c"/>
    <p:sldId xmlns:r="http://schemas.openxmlformats.org/officeDocument/2006/relationships" id="264" r:id="R1a3ce78a78c141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207100c9e34c40" /><Relationship Type="http://schemas.openxmlformats.org/officeDocument/2006/relationships/slideMaster" Target="/ppt/slideMasters/slideMaster1.xml" Id="R5ad35ae3e88e431a" /><Relationship Type="http://schemas.openxmlformats.org/officeDocument/2006/relationships/notesMaster" Target="/ppt/notesMasters/notesMaster1.xml" Id="R48c7b05605924e7f" /><Relationship Type="http://schemas.openxmlformats.org/officeDocument/2006/relationships/presProps" Target="/ppt/presProps.xml" Id="R171efc3835af403d" /><Relationship Type="http://schemas.openxmlformats.org/officeDocument/2006/relationships/viewProps" Target="/ppt/viewProps.xml" Id="Rc84596c6d30d4a82" /><Relationship Type="http://schemas.openxmlformats.org/officeDocument/2006/relationships/tableStyles" Target="/ppt/tableStyles.xml" Id="Rca4e4ac13ba24a12" /><Relationship Type="http://schemas.openxmlformats.org/officeDocument/2006/relationships/slide" Target="/ppt/slides/slide1.xml" Id="R573d9d195f29438b" /><Relationship Type="http://schemas.openxmlformats.org/officeDocument/2006/relationships/slide" Target="/ppt/slides/slide2.xml" Id="R47859f4d0a4449e4" /><Relationship Type="http://schemas.openxmlformats.org/officeDocument/2006/relationships/slide" Target="/ppt/slides/slide3.xml" Id="R46c7350a73ba4e46" /><Relationship Type="http://schemas.openxmlformats.org/officeDocument/2006/relationships/slide" Target="/ppt/slides/slide4.xml" Id="Rc70e6b493839442c" /><Relationship Type="http://schemas.openxmlformats.org/officeDocument/2006/relationships/slide" Target="/ppt/slides/slide5.xml" Id="Ra972290ac7594e3c" /><Relationship Type="http://schemas.openxmlformats.org/officeDocument/2006/relationships/slide" Target="/ppt/slides/slide6.xml" Id="R9e4f083dbeb54c41" /><Relationship Type="http://schemas.openxmlformats.org/officeDocument/2006/relationships/slide" Target="/ppt/slides/slide7.xml" Id="R09f60ccf87374e36" /><Relationship Type="http://schemas.openxmlformats.org/officeDocument/2006/relationships/slide" Target="/ppt/slides/slide8.xml" Id="R21a02d72be74464c" /><Relationship Type="http://schemas.openxmlformats.org/officeDocument/2006/relationships/slide" Target="/ppt/slides/slide9.xml" Id="R1a3ce78a78c141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bfc6cc6254f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03937fc4704b6e" /><Relationship Type="http://schemas.openxmlformats.org/officeDocument/2006/relationships/notesMaster" Target="/ppt/notesMasters/notesMaster1.xml" Id="R1ae9883c58354d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3aa04fd88443f6" /><Relationship Type="http://schemas.openxmlformats.org/officeDocument/2006/relationships/notesMaster" Target="/ppt/notesMasters/notesMaster1.xml" Id="Rbe0a7788a95b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ffbd9283df4bb4" /><Relationship Type="http://schemas.openxmlformats.org/officeDocument/2006/relationships/notesMaster" Target="/ppt/notesMasters/notesMaster1.xml" Id="R6f26f20f635948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737199416e4673" /><Relationship Type="http://schemas.openxmlformats.org/officeDocument/2006/relationships/notesMaster" Target="/ppt/notesMasters/notesMaster1.xml" Id="Rb99eb3542ae44f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5a35835a954ce2" /><Relationship Type="http://schemas.openxmlformats.org/officeDocument/2006/relationships/notesMaster" Target="/ppt/notesMasters/notesMaster1.xml" Id="R9abb6aa2b94c45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acc1b288ef4243" /><Relationship Type="http://schemas.openxmlformats.org/officeDocument/2006/relationships/notesMaster" Target="/ppt/notesMasters/notesMaster1.xml" Id="R242871725c9542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b1b86d21384085" /><Relationship Type="http://schemas.openxmlformats.org/officeDocument/2006/relationships/notesMaster" Target="/ppt/notesMasters/notesMaster1.xml" Id="R15e5b72a37ee4c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9ee7d5e5994d9b" /><Relationship Type="http://schemas.openxmlformats.org/officeDocument/2006/relationships/notesMaster" Target="/ppt/notesMasters/notesMaster1.xml" Id="R82f2b70cd8624c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9b4ded699c436f" /><Relationship Type="http://schemas.openxmlformats.org/officeDocument/2006/relationships/notesMaster" Target="/ppt/notesMasters/notesMaster1.xml" Id="R6c79086ffd8849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Storyboard: SFA3-1-1_VGC_Storyboard_v2.docx</a:t>
            </a:r>
          </a:p>
          <a:p xmlns:a="http://schemas.openxmlformats.org/drawingml/2006/main">
            <a:r>
              <a:t>Analysis: Scripts/12_MicroResp_targeted_BRITE_C_D_GAM_and_clustering.R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Results/MicroResp_targeted_BRITE_C_D/MicroResp_BRITE_C_D_run_summary.csv</a:t>
            </a:r>
          </a:p>
          <a:p xmlns:a="http://schemas.openxmlformats.org/drawingml/2006/main">
            <a:r>
              <a:t>Data/MicroResp_all_BRITE_C_D_complete.csv</a:t>
            </a:r>
          </a:p>
          <a:p xmlns:a="http://schemas.openxmlformats.org/drawingml/2006/main">
            <a:r>
              <a:t>Scripts/12_MicroResp_targeted_BRITE_C_D_GAM_and_clustering.R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Results/MicroResp_targeted_BRITE_C_D/brite_C_MicroResp_elbow_diagnostics.csv</a:t>
            </a:r>
          </a:p>
          <a:p xmlns:a="http://schemas.openxmlformats.org/drawingml/2006/main">
            <a:r>
              <a:t>Results/MicroResp_targeted_BRITE_C_D/brite_D_MicroResp_elbow_diagnostics.csv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Results/MicroResp_targeted_BRITE_C_D/brite_C_MicroResp_elbow_diagnostics.csv</a:t>
            </a:r>
          </a:p>
          <a:p xmlns:a="http://schemas.openxmlformats.org/drawingml/2006/main">
            <a:r>
              <a:t>Results/MicroResp_targeted_BRITE_C_D/brite_D_MicroResp_elbow_diagnostics.csv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Results/MicroResp_targeted_BRITE_C_D/brite_C_MicroResp_elbow_diagnostics.csv</a:t>
            </a:r>
          </a:p>
          <a:p xmlns:a="http://schemas.openxmlformats.org/drawingml/2006/main">
            <a:r>
              <a:t>Results/MicroResp_targeted_BRITE_C_D/brite_D_MicroResp_elbow_diagnostics.csv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Results/MicroResp_targeted_BRITE_C_D/brite_C_MicroResp_GAM_statistics.csv</a:t>
            </a:r>
          </a:p>
          <a:p xmlns:a="http://schemas.openxmlformats.org/drawingml/2006/main">
            <a:r>
              <a:t>Figures/MicroResp_targeted_BRITE_C_D/brite_C/brite_C_targeted_GAMs_page_01.png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Results/MicroResp_targeted_BRITE_C_D/brite_D_MicroResp_GAM_statistics.csv</a:t>
            </a:r>
          </a:p>
          <a:p xmlns:a="http://schemas.openxmlformats.org/drawingml/2006/main">
            <a:r>
              <a:t>Figures/MicroResp_targeted_BRITE_C_D/brite_D/brite_D_targeted_GAMs_page_01.png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Results/MicroResp_targeted_BRITE_C_D/brite_C_MicroResp_elbow_diagnostics.csv</a:t>
            </a:r>
          </a:p>
          <a:p xmlns:a="http://schemas.openxmlformats.org/drawingml/2006/main">
            <a:r>
              <a:t>Results/MicroResp_targeted_BRITE_C_D/brite_D_MicroResp_elbow_diagnostics.csv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Results/MicroResp_targeted_BRITE_C_D/MicroResp_BRITE_C_D_run_summary.csv</a:t>
            </a:r>
          </a:p>
          <a:p xmlns:a="http://schemas.openxmlformats.org/drawingml/2006/main">
            <a:r>
              <a:t>Data/MicroResp_all_BRITE_C_D_complete.csv</a:t>
            </a:r>
          </a:p>
          <a:p xmlns:a="http://schemas.openxmlformats.org/drawingml/2006/main">
            <a:r>
              <a:t>Scripts/12_MicroResp_targeted_BRITE_C_D_GAM_and_clustering.R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177f93f2d4d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49eb3ae07a4681" /><Relationship Type="http://schemas.openxmlformats.org/officeDocument/2006/relationships/slideLayout" Target="/ppt/slideLayouts/slideLayout1.xml" Id="R5cb8d5a4820749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8d5a4820749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47ceab10a435c" /><Relationship Type="http://schemas.openxmlformats.org/officeDocument/2006/relationships/notesSlide" Target="/ppt/notesSlides/notesSlide1.xml" Id="R111be36186954d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008ddcf1847e2" /><Relationship Type="http://schemas.openxmlformats.org/officeDocument/2006/relationships/notesSlide" Target="/ppt/notesSlides/notesSlide2.xml" Id="Ra58d49e1bd724a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4a65a7e9144c2" /><Relationship Type="http://schemas.openxmlformats.org/officeDocument/2006/relationships/image" Target="/ppt/media/image.png" Id="R7c1e86d3cfa443a5" /><Relationship Type="http://schemas.openxmlformats.org/officeDocument/2006/relationships/image" Target="/ppt/media/image2.png" Id="R22a988e9fc2d47d3" /><Relationship Type="http://schemas.openxmlformats.org/officeDocument/2006/relationships/notesSlide" Target="/ppt/notesSlides/notesSlide3.xml" Id="Rbd835e0b4d974d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8f85f12854aa7" /><Relationship Type="http://schemas.openxmlformats.org/officeDocument/2006/relationships/image" Target="/ppt/media/image.png" Id="R2acc3481734a48cf" /><Relationship Type="http://schemas.openxmlformats.org/officeDocument/2006/relationships/image" Target="/ppt/media/image2.png" Id="Rfc90cfba6a684f1d" /><Relationship Type="http://schemas.openxmlformats.org/officeDocument/2006/relationships/notesSlide" Target="/ppt/notesSlides/notesSlide4.xml" Id="R852824bf24b74c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26813f1f74172" /><Relationship Type="http://schemas.openxmlformats.org/officeDocument/2006/relationships/image" Target="/ppt/media/image.png" Id="R09940ab18c0e4d6a" /><Relationship Type="http://schemas.openxmlformats.org/officeDocument/2006/relationships/image" Target="/ppt/media/image2.png" Id="R68a6d67b9bce4257" /><Relationship Type="http://schemas.openxmlformats.org/officeDocument/2006/relationships/notesSlide" Target="/ppt/notesSlides/notesSlide5.xml" Id="R540db7a6ec5a46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228fda8ed486b" /><Relationship Type="http://schemas.openxmlformats.org/officeDocument/2006/relationships/image" Target="/ppt/media/image3.png" Id="R5a843d35d23d4906" /><Relationship Type="http://schemas.openxmlformats.org/officeDocument/2006/relationships/notesSlide" Target="/ppt/notesSlides/notesSlide6.xml" Id="R127635ddb9364c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147f6c5e84300" /><Relationship Type="http://schemas.openxmlformats.org/officeDocument/2006/relationships/image" Target="/ppt/media/image4.png" Id="Ra09ae0478802497a" /><Relationship Type="http://schemas.openxmlformats.org/officeDocument/2006/relationships/notesSlide" Target="/ppt/notesSlides/notesSlide7.xml" Id="R7c43be08154649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34c390f514949" /><Relationship Type="http://schemas.openxmlformats.org/officeDocument/2006/relationships/image" Target="/ppt/media/image.png" Id="R7192eb9c09d24efc" /><Relationship Type="http://schemas.openxmlformats.org/officeDocument/2006/relationships/image" Target="/ppt/media/image2.png" Id="R06392417297d4a2e" /><Relationship Type="http://schemas.openxmlformats.org/officeDocument/2006/relationships/notesSlide" Target="/ppt/notesSlides/notesSlide8.xml" Id="Rddc4db6a258049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718e182f3484f" /><Relationship Type="http://schemas.openxmlformats.org/officeDocument/2006/relationships/notesSlide" Target="/ppt/notesSlides/notesSlide9.xml" Id="R47b7d5f1b1824e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E563952-F4D2-472F-87AD-DB90C96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SOILS SFA | PROSSER TIME SERIES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CB1FA2-D46F-464E-8DFB-96751AC0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MicroResp-linked expression resolves three seasonal programs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6C5DB69-E727-4EBE-B86F-B946693F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628AC9-19F7-45B3-AF81-0441A6C6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Targeted BRITE C pathways and BRITE D KOs: GAM review, temporal clustering, and storyboard synthesis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EEF7AE2-2FE9-4491-9366-136068A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100% irrigation metatranscriptomes | Seven dates | July 2026</a:t>
            </a:r>
          </a:p>
        </p:txBody>
      </p:sp>
    </p:spTree>
    <p:extLst>
      <p:ext uri="{BB962C8B-B14F-4D97-AF65-F5344CB8AC3E}">
        <p14:creationId xmlns:p14="http://schemas.microsoft.com/office/powerpoint/2010/main" val="1580254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EXPRESSION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8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Filtering narrows the transcriptome to functions tied to assayed substrates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explicit MicroResp-to-KEGG map was joined to previously fitted random-plot GAMs. All mapped, converged trajectories were clustered after within-feature z-scoring; targeted-set FDR identifies the strongest time-varying subset.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C pathways mapped and clustered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985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D KOs clustered from 1,312 requested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k = 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automatic elbow at both annotation levels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Significant within the targeted set: 20 BRITE C pathways and 230 BRITE D KOs. Distance: 1 - Pearson correlation; linkage: Ward.D2.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Results/MicroResp_targeted_BRITE_C_D/*_run_summary.csv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EXPRESSION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8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Both functional resolutions support three temporal expression clusters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e86d3cfa443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844278"/>
            <a:ext cx="5219700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988e9fc2d47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844278"/>
            <a:ext cx="5219700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Within-cluster dissimilarity drops sharply through k = 3 at both levels. Higher k values continue to subdivide trajectories but add progressively smaller gains.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MicroResp-targeted BRITE C/D elbow diagnostics; automatic selection, no manual override.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EXPRESSION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8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Both functional resolutions support three temporal expression clusters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c3481734a48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844278"/>
            <a:ext cx="5219700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0cfba6a684f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844278"/>
            <a:ext cx="5219700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Within-cluster dissimilarity drops sharply through k = 3 at both levels. Higher k values continue to subdivide trajectories but add progressively smaller gains.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MicroResp-targeted BRITE C/D elbow diagnostics; automatic selection, no manual override.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EXPRESSION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8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Both functional resolutions support three temporal expression clusters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40ab18c0e4d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844278"/>
            <a:ext cx="5219700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6d67b9bce42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844278"/>
            <a:ext cx="5219700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Within-cluster dissimilarity drops sharply through k = 3 at both levels. Higher k values continue to subdivide trajectories but add progressively smaller gains.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MicroResp-targeted BRITE C/D elbow diagnostics; automatic selection, no manual override.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846ACD-012A-464A-A70E-99FCEEF6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BRITE C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512582-1D9A-463F-BFE8-E70E2109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22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Twenty of 31 mapped pathways show targeted-set temporal significance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D08E2F-C923-4C36-893D-F61B720B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2B2CA1-8FA7-4EE3-82E5-5757266D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0FFC053-BE6E-4045-B39B-39F68BA5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43d35d23d4906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780" y="1714500"/>
            <a:ext cx="6639791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A2731B-3DA4-47A0-B562-B329075F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3EF473-7F7F-4411-9D72-A2AF51D2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8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12 pathways: biosynthesis, glycan use, and aromatic degradation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919A671-1D02-4525-956A-FD4FF04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7D341D0-D547-4B0D-B420-74B7BFB5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976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13 pathways: TCA, N cycling, amino-acid and fatty-acid metabolism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8D17AA-FB3B-47B3-A5F5-1D850B35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0A2F0B7-4C97-4F8B-BCAC-EEFD935D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63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6 pathways: glycolysis, pyruvate, lipid, butanoate functions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71D7284-DF29-49BB-AC01-544F69F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752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5F6BC90-B59D-4404-92A1-9283AA66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CA20D75-E7EB-40F2-9091-5FB3281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GAM evidence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19CB031-31A4-47A3-B3D9-DD684233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335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mapped pathway set contains broad, nonlinear time trends rather than a single synchronized response. Strong signals include arginine biosynthesis, N metabolism, amino-sugar metabolism, and aromatic-compound degradation.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E96D4F7-4D28-4FA7-82DD-F691F49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brite_C_MicroResp_GAM_statistics.csv and targeted GAM panels</a:t>
            </a:r>
          </a:p>
        </p:txBody>
      </p:sp>
    </p:spTree>
    <p:extLst>
      <p:ext uri="{BB962C8B-B14F-4D97-AF65-F5344CB8AC3E}">
        <p14:creationId xmlns:p14="http://schemas.microsoft.com/office/powerpoint/2010/main" val="3526535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5FE0D1-4A61-4111-9C0A-5B93AB78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BRITE D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432386-AAAA-44D1-B52C-949631A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KO-level GAMs reveal strong but heterogeneous seasonal expression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C3FD196-12C1-4138-9EB6-1F56B8C6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012FD07-CB41-4FDD-AAA2-F5D821B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9DCD39B-88A5-405C-A429-4A0ABF08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ae0478802497a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780" y="1714500"/>
            <a:ext cx="6639791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78D219-8DD9-4963-B3BA-211A2F36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02C4817-8958-4542-9D57-060FF9AC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1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477 KOs (48%): includes urease, polyamine, TCA, and aromatic-use genes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5D14AF-7F15-4FCC-BFB7-3E1347B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392CB9-5CCC-42AC-B708-38BF5778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17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245 KOs (25%): includes nitrate reduction and storage-carbon functions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137B8FE-64FC-4A0A-A0A2-6D1167B1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BAF9452-9E52-46F8-9DDF-4B4052FA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64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263 KOs (27%): includes sugar, amino-acid, and N-oxide functions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DC905B-1D1F-47F6-A212-AC609130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752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336D640-E58D-4C53-AB25-EC6ADB71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1CDCC4-5D19-4280-9123-46A2513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Resolution matters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B289DF0-763E-4036-8A53-DAE0EB8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335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Of 1,312 mapped KOs requested; 230 were temporally significant</a:t>
            </a:r>
            <a:r>
              <a:rPr sz="1275">
                <a:solidFill>
                  <a:srgbClr val="555B66"/>
                </a:solidFill>
                <a:latin typeface="Arial"/>
                <a:ea typeface="Arial"/>
                <a:cs typeface="Arial"/>
              </a:rPr>
              <a:t>, 985 converged and were clustered</a:t>
            </a: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 within the targeted set. KO diversity shows that pathway-level averages can conceal opposing constituent trajectories.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09F0A96-6C8A-4635-B5AF-8DA7379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brite_D_MicroResp_GAM_statistics.csv and targeted GAM panels</a:t>
            </a:r>
          </a:p>
        </p:txBody>
      </p:sp>
    </p:spTree>
    <p:extLst>
      <p:ext uri="{BB962C8B-B14F-4D97-AF65-F5344CB8AC3E}">
        <p14:creationId xmlns:p14="http://schemas.microsoft.com/office/powerpoint/2010/main" val="10772262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EXPRESSION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8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Both functional resolutions support three temporal expression clusters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2eb9c09d24e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844278"/>
            <a:ext cx="5219700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92417297d4a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844278"/>
            <a:ext cx="5219700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Within-cluster dissimilarity drops sharply through k = 3 at both levels. Higher k values continue to subdivide trajectories but add progressively smaller gains.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MicroResp-targeted BRITE C/D elbow diagnostics; automatic selection, no manual override.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EXPRESSION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8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Filtering narrows the transcriptome to functions tied to assayed substrates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explicit MicroResp-to-KEGG map was joined to previously fitted random-plot GAMs. All mapped, converged trajectories were clustered after within-feature z-scoring; targeted-set FDR identifies the strongest time-varying subset.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C pathways mapped and clustered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985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D KOs clustered from 1,312 requested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k = 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automatic elbow at both annotation levels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Significant within the targeted set: 20 BRITE C pathways and 230 BRITE D KOs. Distance: 1 - Pearson correlation; linkage: Ward.D2.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Results/MicroResp_targeted_BRITE_C_D/*_run_summary.csv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2026-07-27T00:55:27.6360000Z</dcterms:created>
  <dcterms:modified xsi:type="dcterms:W3CDTF">2026-07-27T00:55:27.6360000Z</dcterms:modified>
</coreProperties>
</file>