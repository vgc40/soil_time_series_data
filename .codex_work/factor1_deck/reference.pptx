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4" r:id="rId9"/>
    <p:sldId id="265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574CC5-EDD8-4937-806B-70DD9EA9D34A}" v="1" dt="2026-07-26T18:49:37.3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73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ayburu-Caruso, Vanessa A" userId="e129c12f-749a-4310-80b6-042d2c75f741" providerId="ADAL" clId="{BDE9D4B7-D194-4151-8169-6202A9EC195B}"/>
    <pc:docChg chg="undo custSel addSld modSld">
      <pc:chgData name="Garayburu-Caruso, Vanessa A" userId="e129c12f-749a-4310-80b6-042d2c75f741" providerId="ADAL" clId="{BDE9D4B7-D194-4151-8169-6202A9EC195B}" dt="2026-07-26T19:02:45.115" v="37" actId="680"/>
      <pc:docMkLst>
        <pc:docMk/>
      </pc:docMkLst>
      <pc:sldChg chg="modSp mod">
        <pc:chgData name="Garayburu-Caruso, Vanessa A" userId="e129c12f-749a-4310-80b6-042d2c75f741" providerId="ADAL" clId="{BDE9D4B7-D194-4151-8169-6202A9EC195B}" dt="2026-07-26T18:49:37.447" v="9" actId="27636"/>
        <pc:sldMkLst>
          <pc:docMk/>
          <pc:sldMk cId="640776730" sldId="257"/>
        </pc:sldMkLst>
        <pc:spChg chg="mod">
          <ac:chgData name="Garayburu-Caruso, Vanessa A" userId="e129c12f-749a-4310-80b6-042d2c75f741" providerId="ADAL" clId="{BDE9D4B7-D194-4151-8169-6202A9EC195B}" dt="2026-07-26T18:49:37.447" v="9" actId="27636"/>
          <ac:spMkLst>
            <pc:docMk/>
            <pc:sldMk cId="640776730" sldId="257"/>
            <ac:spMk id="2" creationId="{80F00F7D-4545-446D-BCDA-C730953DA915}"/>
          </ac:spMkLst>
        </pc:spChg>
      </pc:sldChg>
      <pc:sldChg chg="modSp mod">
        <pc:chgData name="Garayburu-Caruso, Vanessa A" userId="e129c12f-749a-4310-80b6-042d2c75f741" providerId="ADAL" clId="{BDE9D4B7-D194-4151-8169-6202A9EC195B}" dt="2026-07-26T18:49:37.455" v="10" actId="27636"/>
        <pc:sldMkLst>
          <pc:docMk/>
          <pc:sldMk cId="892424089" sldId="258"/>
        </pc:sldMkLst>
        <pc:spChg chg="mod">
          <ac:chgData name="Garayburu-Caruso, Vanessa A" userId="e129c12f-749a-4310-80b6-042d2c75f741" providerId="ADAL" clId="{BDE9D4B7-D194-4151-8169-6202A9EC195B}" dt="2026-07-26T18:49:37.455" v="10" actId="27636"/>
          <ac:spMkLst>
            <pc:docMk/>
            <pc:sldMk cId="892424089" sldId="258"/>
            <ac:spMk id="2" creationId="{C3BCAE96-88CE-45B9-B089-CC8DE07BE989}"/>
          </ac:spMkLst>
        </pc:spChg>
      </pc:sldChg>
      <pc:sldChg chg="modSp mod">
        <pc:chgData name="Garayburu-Caruso, Vanessa A" userId="e129c12f-749a-4310-80b6-042d2c75f741" providerId="ADAL" clId="{BDE9D4B7-D194-4151-8169-6202A9EC195B}" dt="2026-07-26T18:49:37.469" v="13" actId="27636"/>
        <pc:sldMkLst>
          <pc:docMk/>
          <pc:sldMk cId="352653579" sldId="259"/>
        </pc:sldMkLst>
        <pc:spChg chg="mod">
          <ac:chgData name="Garayburu-Caruso, Vanessa A" userId="e129c12f-749a-4310-80b6-042d2c75f741" providerId="ADAL" clId="{BDE9D4B7-D194-4151-8169-6202A9EC195B}" dt="2026-07-26T18:49:37.465" v="11" actId="27636"/>
          <ac:spMkLst>
            <pc:docMk/>
            <pc:sldMk cId="352653579" sldId="259"/>
            <ac:spMk id="8" creationId="{8E3EF473-7F7F-4411-9D72-A2AF51D2881A}"/>
          </ac:spMkLst>
        </pc:spChg>
        <pc:spChg chg="mod">
          <ac:chgData name="Garayburu-Caruso, Vanessa A" userId="e129c12f-749a-4310-80b6-042d2c75f741" providerId="ADAL" clId="{BDE9D4B7-D194-4151-8169-6202A9EC195B}" dt="2026-07-26T18:49:37.469" v="13" actId="27636"/>
          <ac:spMkLst>
            <pc:docMk/>
            <pc:sldMk cId="352653579" sldId="259"/>
            <ac:spMk id="10" creationId="{37D341D0-D547-4B0D-B420-74B7BFB5239F}"/>
          </ac:spMkLst>
        </pc:spChg>
        <pc:spChg chg="mod">
          <ac:chgData name="Garayburu-Caruso, Vanessa A" userId="e129c12f-749a-4310-80b6-042d2c75f741" providerId="ADAL" clId="{BDE9D4B7-D194-4151-8169-6202A9EC195B}" dt="2026-07-26T18:49:37.467" v="12" actId="27636"/>
          <ac:spMkLst>
            <pc:docMk/>
            <pc:sldMk cId="352653579" sldId="259"/>
            <ac:spMk id="12" creationId="{00A2F0B7-4C97-4F8B-BCAC-EEFD935D4757}"/>
          </ac:spMkLst>
        </pc:spChg>
      </pc:sldChg>
      <pc:sldChg chg="modSp mod">
        <pc:chgData name="Garayburu-Caruso, Vanessa A" userId="e129c12f-749a-4310-80b6-042d2c75f741" providerId="ADAL" clId="{BDE9D4B7-D194-4151-8169-6202A9EC195B}" dt="2026-07-26T18:49:37.479" v="14" actId="27636"/>
        <pc:sldMkLst>
          <pc:docMk/>
          <pc:sldMk cId="1573252859" sldId="260"/>
        </pc:sldMkLst>
        <pc:spChg chg="mod">
          <ac:chgData name="Garayburu-Caruso, Vanessa A" userId="e129c12f-749a-4310-80b6-042d2c75f741" providerId="ADAL" clId="{BDE9D4B7-D194-4151-8169-6202A9EC195B}" dt="2026-07-26T18:49:37.479" v="14" actId="27636"/>
          <ac:spMkLst>
            <pc:docMk/>
            <pc:sldMk cId="1573252859" sldId="260"/>
            <ac:spMk id="2" creationId="{466E5BB4-9696-4D29-9740-2D78377D38FF}"/>
          </ac:spMkLst>
        </pc:spChg>
      </pc:sldChg>
      <pc:sldChg chg="modSp mod">
        <pc:chgData name="Garayburu-Caruso, Vanessa A" userId="e129c12f-749a-4310-80b6-042d2c75f741" providerId="ADAL" clId="{BDE9D4B7-D194-4151-8169-6202A9EC195B}" dt="2026-07-26T18:49:37.396" v="3" actId="27636"/>
        <pc:sldMkLst>
          <pc:docMk/>
          <pc:sldMk cId="1077226257" sldId="261"/>
        </pc:sldMkLst>
        <pc:spChg chg="mod">
          <ac:chgData name="Garayburu-Caruso, Vanessa A" userId="e129c12f-749a-4310-80b6-042d2c75f741" providerId="ADAL" clId="{BDE9D4B7-D194-4151-8169-6202A9EC195B}" dt="2026-07-26T18:49:37.396" v="2" actId="27636"/>
          <ac:spMkLst>
            <pc:docMk/>
            <pc:sldMk cId="1077226257" sldId="261"/>
            <ac:spMk id="8" creationId="{B02C4817-8958-4542-9D57-060FF9ACB89B}"/>
          </ac:spMkLst>
        </pc:spChg>
        <pc:spChg chg="mod">
          <ac:chgData name="Garayburu-Caruso, Vanessa A" userId="e129c12f-749a-4310-80b6-042d2c75f741" providerId="ADAL" clId="{BDE9D4B7-D194-4151-8169-6202A9EC195B}" dt="2026-07-26T18:49:37.396" v="3" actId="27636"/>
          <ac:spMkLst>
            <pc:docMk/>
            <pc:sldMk cId="1077226257" sldId="261"/>
            <ac:spMk id="10" creationId="{43392CB9-5CCC-42AC-B708-38BF57783C3E}"/>
          </ac:spMkLst>
        </pc:spChg>
        <pc:spChg chg="mod">
          <ac:chgData name="Garayburu-Caruso, Vanessa A" userId="e129c12f-749a-4310-80b6-042d2c75f741" providerId="ADAL" clId="{BDE9D4B7-D194-4151-8169-6202A9EC195B}" dt="2026-07-26T18:49:37.396" v="1" actId="27636"/>
          <ac:spMkLst>
            <pc:docMk/>
            <pc:sldMk cId="1077226257" sldId="261"/>
            <ac:spMk id="12" creationId="{1BAF9452-9E52-46F8-9DDF-4B4052FADEA3}"/>
          </ac:spMkLst>
        </pc:spChg>
        <pc:spChg chg="mod">
          <ac:chgData name="Garayburu-Caruso, Vanessa A" userId="e129c12f-749a-4310-80b6-042d2c75f741" providerId="ADAL" clId="{BDE9D4B7-D194-4151-8169-6202A9EC195B}" dt="2026-07-26T18:49:37.368" v="0" actId="20578"/>
          <ac:spMkLst>
            <pc:docMk/>
            <pc:sldMk cId="1077226257" sldId="261"/>
            <ac:spMk id="16" creationId="{4B289DF0-763E-4036-8A53-DAE0EB89F2AA}"/>
          </ac:spMkLst>
        </pc:spChg>
      </pc:sldChg>
      <pc:sldChg chg="modSp mod">
        <pc:chgData name="Garayburu-Caruso, Vanessa A" userId="e129c12f-749a-4310-80b6-042d2c75f741" providerId="ADAL" clId="{BDE9D4B7-D194-4151-8169-6202A9EC195B}" dt="2026-07-26T18:49:37.408" v="5" actId="27636"/>
        <pc:sldMkLst>
          <pc:docMk/>
          <pc:sldMk cId="271285787" sldId="262"/>
        </pc:sldMkLst>
        <pc:spChg chg="mod">
          <ac:chgData name="Garayburu-Caruso, Vanessa A" userId="e129c12f-749a-4310-80b6-042d2c75f741" providerId="ADAL" clId="{BDE9D4B7-D194-4151-8169-6202A9EC195B}" dt="2026-07-26T18:49:37.408" v="4" actId="27636"/>
          <ac:spMkLst>
            <pc:docMk/>
            <pc:sldMk cId="271285787" sldId="262"/>
            <ac:spMk id="2" creationId="{04415BE0-2CFC-4A05-A97F-163F56601325}"/>
          </ac:spMkLst>
        </pc:spChg>
        <pc:spChg chg="mod">
          <ac:chgData name="Garayburu-Caruso, Vanessa A" userId="e129c12f-749a-4310-80b6-042d2c75f741" providerId="ADAL" clId="{BDE9D4B7-D194-4151-8169-6202A9EC195B}" dt="2026-07-26T18:49:37.408" v="5" actId="27636"/>
          <ac:spMkLst>
            <pc:docMk/>
            <pc:sldMk cId="271285787" sldId="262"/>
            <ac:spMk id="10" creationId="{950B1DE1-4EBE-4B49-9390-B19C2F6B587B}"/>
          </ac:spMkLst>
        </pc:spChg>
      </pc:sldChg>
      <pc:sldChg chg="modSp mod">
        <pc:chgData name="Garayburu-Caruso, Vanessa A" userId="e129c12f-749a-4310-80b6-042d2c75f741" providerId="ADAL" clId="{BDE9D4B7-D194-4151-8169-6202A9EC195B}" dt="2026-07-26T18:49:37.431" v="8" actId="27636"/>
        <pc:sldMkLst>
          <pc:docMk/>
          <pc:sldMk cId="1483691792" sldId="263"/>
        </pc:sldMkLst>
        <pc:spChg chg="mod">
          <ac:chgData name="Garayburu-Caruso, Vanessa A" userId="e129c12f-749a-4310-80b6-042d2c75f741" providerId="ADAL" clId="{BDE9D4B7-D194-4151-8169-6202A9EC195B}" dt="2026-07-26T18:49:37.431" v="8" actId="27636"/>
          <ac:spMkLst>
            <pc:docMk/>
            <pc:sldMk cId="1483691792" sldId="263"/>
            <ac:spMk id="2" creationId="{0A250F80-87AD-40DB-85F4-B9FA1D272D57}"/>
          </ac:spMkLst>
        </pc:spChg>
        <pc:spChg chg="mod">
          <ac:chgData name="Garayburu-Caruso, Vanessa A" userId="e129c12f-749a-4310-80b6-042d2c75f741" providerId="ADAL" clId="{BDE9D4B7-D194-4151-8169-6202A9EC195B}" dt="2026-07-26T18:49:37.431" v="7" actId="27636"/>
          <ac:spMkLst>
            <pc:docMk/>
            <pc:sldMk cId="1483691792" sldId="263"/>
            <ac:spMk id="19" creationId="{7A835BD1-42D3-48E3-A806-D7C7410D9BB0}"/>
          </ac:spMkLst>
        </pc:spChg>
        <pc:spChg chg="mod">
          <ac:chgData name="Garayburu-Caruso, Vanessa A" userId="e129c12f-749a-4310-80b6-042d2c75f741" providerId="ADAL" clId="{BDE9D4B7-D194-4151-8169-6202A9EC195B}" dt="2026-07-26T18:49:37.431" v="6" actId="27636"/>
          <ac:spMkLst>
            <pc:docMk/>
            <pc:sldMk cId="1483691792" sldId="263"/>
            <ac:spMk id="33" creationId="{3B67DBFE-92A8-40FF-9698-03C377878122}"/>
          </ac:spMkLst>
        </pc:spChg>
      </pc:sldChg>
      <pc:sldChg chg="addSp delSp modSp new mod">
        <pc:chgData name="Garayburu-Caruso, Vanessa A" userId="e129c12f-749a-4310-80b6-042d2c75f741" providerId="ADAL" clId="{BDE9D4B7-D194-4151-8169-6202A9EC195B}" dt="2026-07-26T19:01:15.929" v="19" actId="931"/>
        <pc:sldMkLst>
          <pc:docMk/>
          <pc:sldMk cId="4162079990" sldId="264"/>
        </pc:sldMkLst>
        <pc:spChg chg="add del">
          <ac:chgData name="Garayburu-Caruso, Vanessa A" userId="e129c12f-749a-4310-80b6-042d2c75f741" providerId="ADAL" clId="{BDE9D4B7-D194-4151-8169-6202A9EC195B}" dt="2026-07-26T19:00:58.565" v="18" actId="478"/>
          <ac:spMkLst>
            <pc:docMk/>
            <pc:sldMk cId="4162079990" sldId="264"/>
            <ac:spMk id="3" creationId="{17F90897-613A-1E5C-8B8D-861AC9F16101}"/>
          </ac:spMkLst>
        </pc:spChg>
        <pc:picChg chg="add mod">
          <ac:chgData name="Garayburu-Caruso, Vanessa A" userId="e129c12f-749a-4310-80b6-042d2c75f741" providerId="ADAL" clId="{BDE9D4B7-D194-4151-8169-6202A9EC195B}" dt="2026-07-26T19:01:15.929" v="19" actId="931"/>
          <ac:picMkLst>
            <pc:docMk/>
            <pc:sldMk cId="4162079990" sldId="264"/>
            <ac:picMk id="5" creationId="{82239160-7EC8-59F6-75C0-5F0B04A5F052}"/>
          </ac:picMkLst>
        </pc:picChg>
      </pc:sldChg>
      <pc:sldChg chg="addSp delSp modSp new mod">
        <pc:chgData name="Garayburu-Caruso, Vanessa A" userId="e129c12f-749a-4310-80b6-042d2c75f741" providerId="ADAL" clId="{BDE9D4B7-D194-4151-8169-6202A9EC195B}" dt="2026-07-26T19:02:39.499" v="36" actId="1076"/>
        <pc:sldMkLst>
          <pc:docMk/>
          <pc:sldMk cId="1143550544" sldId="265"/>
        </pc:sldMkLst>
        <pc:spChg chg="add del mod">
          <ac:chgData name="Garayburu-Caruso, Vanessa A" userId="e129c12f-749a-4310-80b6-042d2c75f741" providerId="ADAL" clId="{BDE9D4B7-D194-4151-8169-6202A9EC195B}" dt="2026-07-26T19:02:23.448" v="29" actId="22"/>
          <ac:spMkLst>
            <pc:docMk/>
            <pc:sldMk cId="1143550544" sldId="265"/>
            <ac:spMk id="5" creationId="{6FC56708-803E-DFD4-0730-85E4B122D33D}"/>
          </ac:spMkLst>
        </pc:spChg>
        <pc:spChg chg="add del mod">
          <ac:chgData name="Garayburu-Caruso, Vanessa A" userId="e129c12f-749a-4310-80b6-042d2c75f741" providerId="ADAL" clId="{BDE9D4B7-D194-4151-8169-6202A9EC195B}" dt="2026-07-26T19:02:23.448" v="29" actId="22"/>
          <ac:spMkLst>
            <pc:docMk/>
            <pc:sldMk cId="1143550544" sldId="265"/>
            <ac:spMk id="7" creationId="{E85E5DA6-8771-7F7D-D3F7-3ECAEB33ACB1}"/>
          </ac:spMkLst>
        </pc:spChg>
        <pc:spChg chg="add del mod">
          <ac:chgData name="Garayburu-Caruso, Vanessa A" userId="e129c12f-749a-4310-80b6-042d2c75f741" providerId="ADAL" clId="{BDE9D4B7-D194-4151-8169-6202A9EC195B}" dt="2026-07-26T19:02:23.448" v="29" actId="22"/>
          <ac:spMkLst>
            <pc:docMk/>
            <pc:sldMk cId="1143550544" sldId="265"/>
            <ac:spMk id="9" creationId="{C5610679-B70B-4A3C-DA06-E03790B254F5}"/>
          </ac:spMkLst>
        </pc:spChg>
        <pc:spChg chg="add del mod">
          <ac:chgData name="Garayburu-Caruso, Vanessa A" userId="e129c12f-749a-4310-80b6-042d2c75f741" providerId="ADAL" clId="{BDE9D4B7-D194-4151-8169-6202A9EC195B}" dt="2026-07-26T19:02:23.448" v="29" actId="22"/>
          <ac:spMkLst>
            <pc:docMk/>
            <pc:sldMk cId="1143550544" sldId="265"/>
            <ac:spMk id="11" creationId="{42E41E63-535E-ED3E-0379-0F7B9315B9C1}"/>
          </ac:spMkLst>
        </pc:spChg>
        <pc:spChg chg="add del mod">
          <ac:chgData name="Garayburu-Caruso, Vanessa A" userId="e129c12f-749a-4310-80b6-042d2c75f741" providerId="ADAL" clId="{BDE9D4B7-D194-4151-8169-6202A9EC195B}" dt="2026-07-26T19:02:23.448" v="29" actId="22"/>
          <ac:spMkLst>
            <pc:docMk/>
            <pc:sldMk cId="1143550544" sldId="265"/>
            <ac:spMk id="13" creationId="{4B63474E-7EAA-DF98-0021-9D4FE3412835}"/>
          </ac:spMkLst>
        </pc:spChg>
        <pc:spChg chg="add del mod">
          <ac:chgData name="Garayburu-Caruso, Vanessa A" userId="e129c12f-749a-4310-80b6-042d2c75f741" providerId="ADAL" clId="{BDE9D4B7-D194-4151-8169-6202A9EC195B}" dt="2026-07-26T19:02:23.448" v="29" actId="22"/>
          <ac:spMkLst>
            <pc:docMk/>
            <pc:sldMk cId="1143550544" sldId="265"/>
            <ac:spMk id="17" creationId="{25538A82-B562-4BEF-36E1-85F0087A025A}"/>
          </ac:spMkLst>
        </pc:spChg>
        <pc:spChg chg="add del mod">
          <ac:chgData name="Garayburu-Caruso, Vanessa A" userId="e129c12f-749a-4310-80b6-042d2c75f741" providerId="ADAL" clId="{BDE9D4B7-D194-4151-8169-6202A9EC195B}" dt="2026-07-26T19:02:23.448" v="29" actId="22"/>
          <ac:spMkLst>
            <pc:docMk/>
            <pc:sldMk cId="1143550544" sldId="265"/>
            <ac:spMk id="19" creationId="{C14301B3-98F4-C48A-D01A-FCC05D00F53D}"/>
          </ac:spMkLst>
        </pc:spChg>
        <pc:spChg chg="add del mod">
          <ac:chgData name="Garayburu-Caruso, Vanessa A" userId="e129c12f-749a-4310-80b6-042d2c75f741" providerId="ADAL" clId="{BDE9D4B7-D194-4151-8169-6202A9EC195B}" dt="2026-07-26T19:02:23.448" v="29" actId="22"/>
          <ac:spMkLst>
            <pc:docMk/>
            <pc:sldMk cId="1143550544" sldId="265"/>
            <ac:spMk id="21" creationId="{B5550B86-ABD5-18F9-CEB5-15006E7B95BD}"/>
          </ac:spMkLst>
        </pc:spChg>
        <pc:spChg chg="add del mod">
          <ac:chgData name="Garayburu-Caruso, Vanessa A" userId="e129c12f-749a-4310-80b6-042d2c75f741" providerId="ADAL" clId="{BDE9D4B7-D194-4151-8169-6202A9EC195B}" dt="2026-07-26T19:02:23.448" v="29" actId="22"/>
          <ac:spMkLst>
            <pc:docMk/>
            <pc:sldMk cId="1143550544" sldId="265"/>
            <ac:spMk id="23" creationId="{341072F6-3E9F-875C-3E23-115F190DE561}"/>
          </ac:spMkLst>
        </pc:spChg>
        <pc:spChg chg="add del mod">
          <ac:chgData name="Garayburu-Caruso, Vanessa A" userId="e129c12f-749a-4310-80b6-042d2c75f741" providerId="ADAL" clId="{BDE9D4B7-D194-4151-8169-6202A9EC195B}" dt="2026-07-26T19:02:23.448" v="29" actId="22"/>
          <ac:spMkLst>
            <pc:docMk/>
            <pc:sldMk cId="1143550544" sldId="265"/>
            <ac:spMk id="25" creationId="{A1E1C350-E703-A857-B0AB-63A835197286}"/>
          </ac:spMkLst>
        </pc:spChg>
        <pc:picChg chg="add mod">
          <ac:chgData name="Garayburu-Caruso, Vanessa A" userId="e129c12f-749a-4310-80b6-042d2c75f741" providerId="ADAL" clId="{BDE9D4B7-D194-4151-8169-6202A9EC195B}" dt="2026-07-26T19:02:16.316" v="24" actId="1076"/>
          <ac:picMkLst>
            <pc:docMk/>
            <pc:sldMk cId="1143550544" sldId="265"/>
            <ac:picMk id="3" creationId="{35834484-93CF-4C34-4FC8-4C03FD3C0E95}"/>
          </ac:picMkLst>
        </pc:picChg>
        <pc:picChg chg="add mod">
          <ac:chgData name="Garayburu-Caruso, Vanessa A" userId="e129c12f-749a-4310-80b6-042d2c75f741" providerId="ADAL" clId="{BDE9D4B7-D194-4151-8169-6202A9EC195B}" dt="2026-07-26T19:02:39.499" v="36" actId="1076"/>
          <ac:picMkLst>
            <pc:docMk/>
            <pc:sldMk cId="1143550544" sldId="265"/>
            <ac:picMk id="29" creationId="{EC00A7F8-23D4-A1FA-0421-EF42EAEEDEB5}"/>
          </ac:picMkLst>
        </pc:picChg>
      </pc:sldChg>
      <pc:sldChg chg="new">
        <pc:chgData name="Garayburu-Caruso, Vanessa A" userId="e129c12f-749a-4310-80b6-042d2c75f741" providerId="ADAL" clId="{BDE9D4B7-D194-4151-8169-6202A9EC195B}" dt="2026-07-26T19:02:45.115" v="37" actId="680"/>
        <pc:sldMkLst>
          <pc:docMk/>
          <pc:sldMk cId="1833039722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Storyboard: SFA3-1-1_VGC_Storyboard_v2.docx</a:t>
            </a:r>
          </a:p>
          <a:p>
            <a:r>
              <a:t>Analysis: Scripts/12_MicroResp_targeted_BRITE_C_D_GAM_and_clustering.R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Results/MicroResp_targeted_BRITE_C_D/MicroResp_BRITE_C_D_run_summary.csv</a:t>
            </a:r>
          </a:p>
          <a:p>
            <a:r>
              <a:t>Data/MicroResp_all_BRITE_C_D_complete.csv</a:t>
            </a:r>
          </a:p>
          <a:p>
            <a:r>
              <a:t>Scripts/12_MicroResp_targeted_BRITE_C_D_GAM_and_clustering.R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Results/MicroResp_targeted_BRITE_C_D/brite_C_MicroResp_elbow_diagnostics.csv</a:t>
            </a:r>
          </a:p>
          <a:p>
            <a:r>
              <a:t>Results/MicroResp_targeted_BRITE_C_D/brite_D_MicroResp_elbow_diagnostics.csv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Results/MicroResp_targeted_BRITE_C_D/brite_C_MicroResp_GAM_statistics.csv</a:t>
            </a:r>
          </a:p>
          <a:p>
            <a:r>
              <a:t>Figures/MicroResp_targeted_BRITE_C_D/brite_C/brite_C_targeted_GAMs_page_01.png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Results/MicroResp_targeted_BRITE_C_D/brite_C_MicroResp_cluster_assignments.csv</a:t>
            </a:r>
          </a:p>
          <a:p>
            <a:r>
              <a:t>Figures/MicroResp_targeted_BRITE_C_D/brite_C/brite_C_MicroResp_heatmap.png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Results/MicroResp_targeted_BRITE_C_D/brite_D_MicroResp_GAM_statistics.csv</a:t>
            </a:r>
          </a:p>
          <a:p>
            <a:r>
              <a:t>Figures/MicroResp_targeted_BRITE_C_D/brite_D/brite_D_targeted_GAMs_page_01.png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Results/MicroResp_targeted_BRITE_C_D/brite_D_MicroResp_heatmap_feature_selection.csv</a:t>
            </a:r>
          </a:p>
          <a:p>
            <a:r>
              <a:t>Results/MicroResp_targeted_BRITE_C_D/brite_D_MicroResp_cluster_assignments.csv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SFA3-1-1_VGC_Storyboard_v2.docx</a:t>
            </a:r>
          </a:p>
          <a:p>
            <a:r>
              <a:t>Results/MicroResp_targeted_BRITE_C_D/brite_C_MicroResp_cluster_assignments.csv</a:t>
            </a:r>
          </a:p>
          <a:p>
            <a:r>
              <a:t>Results/MicroResp_targeted_BRITE_C_D/brite_D_MicroResp_cluster_assignments.csv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E563952-F4D2-472F-87AD-DB90C96C8A65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533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SOILS SFA | PROSSER TIME SERIES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B1FA2-D46F-464E-8DFB-96751AC0C0FE}"/>
              </a:ext>
            </a:extLst>
          </p:cNvPr>
          <p:cNvSpPr>
            <a:spLocks noGrp="1"/>
          </p:cNvSpPr>
          <p:nvPr/>
        </p:nvSpPr>
        <p:spPr>
          <a:xfrm>
            <a:off x="400050" y="1952625"/>
            <a:ext cx="9715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l">
              <a:buNone/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MicroResp-linked expression resolves three seasonal programs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C5DB69-E727-4EBE-B86F-B946693FC18C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113919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628AC9-19F7-45B3-AF81-0441A6C6B5DC}"/>
              </a:ext>
            </a:extLst>
          </p:cNvPr>
          <p:cNvSpPr>
            <a:spLocks noGrp="1"/>
          </p:cNvSpPr>
          <p:nvPr/>
        </p:nvSpPr>
        <p:spPr>
          <a:xfrm>
            <a:off x="400050" y="4457700"/>
            <a:ext cx="9239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Targeted BRITE C pathways and BRITE D KOs: GAM review, temporal clustering, and storyboard synthesis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EF7AE2-2FE9-4491-9366-136068AE5C06}"/>
              </a:ext>
            </a:extLst>
          </p:cNvPr>
          <p:cNvSpPr>
            <a:spLocks noGrp="1"/>
          </p:cNvSpPr>
          <p:nvPr/>
        </p:nvSpPr>
        <p:spPr>
          <a:xfrm>
            <a:off x="400050" y="59245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100% irrigation metatranscriptomes | Seven dates | July 2026</a:t>
            </a:r>
          </a:p>
        </p:txBody>
      </p:sp>
    </p:spTree>
    <p:extLst>
      <p:ext uri="{BB962C8B-B14F-4D97-AF65-F5344CB8AC3E}">
        <p14:creationId xmlns:p14="http://schemas.microsoft.com/office/powerpoint/2010/main" val="1580254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1FE8324-0CB2-4E08-8A24-32D158836C74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MICRORESP-LINKED EXPRESSION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F00F7D-4545-446D-BCDA-C730953DA915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29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873" lnSpcReduction="20000"/>
          </a:bodyPr>
          <a:lstStyle/>
          <a:p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Filtering narrows the transcriptome to functions tied to assayed substrates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D2BC53-A5DE-434A-81E1-AA4D323F44A0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4F1C62-4047-4F8A-A6B8-45E4D0FAEB73}"/>
              </a:ext>
            </a:extLst>
          </p:cNvPr>
          <p:cNvSpPr>
            <a:spLocks noGrp="1"/>
          </p:cNvSpPr>
          <p:nvPr/>
        </p:nvSpPr>
        <p:spPr>
          <a:xfrm>
            <a:off x="11287125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B760E8-CB75-42A3-AF3D-E18B15DAE73B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The explicit MicroResp-to-KEGG map was joined to previously fitted random-plot GAMs. All mapped, converged trajectories were clustered after within-feature z-scoring; targeted-set FDR identifies the strongest time-varying subset.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4ACBD0-0479-42DD-A520-D2A958EA1C4E}"/>
              </a:ext>
            </a:extLst>
          </p:cNvPr>
          <p:cNvSpPr>
            <a:spLocks noGrp="1"/>
          </p:cNvSpPr>
          <p:nvPr/>
        </p:nvSpPr>
        <p:spPr>
          <a:xfrm>
            <a:off x="400050" y="2724150"/>
            <a:ext cx="3600450" cy="2667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2D45F0-9286-44E6-8CFC-4DE8F65C52E9}"/>
              </a:ext>
            </a:extLst>
          </p:cNvPr>
          <p:cNvSpPr>
            <a:spLocks noGrp="1"/>
          </p:cNvSpPr>
          <p:nvPr/>
        </p:nvSpPr>
        <p:spPr>
          <a:xfrm>
            <a:off x="400050" y="2724150"/>
            <a:ext cx="3600450" cy="76200"/>
          </a:xfrm>
          <a:prstGeom prst="rect">
            <a:avLst/>
          </a:prstGeom>
          <a:solidFill>
            <a:srgbClr val="F876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32BEC7-A90A-4CCE-AC59-DA145362EF9D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304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l">
              <a:buNone/>
              <a:defRPr sz="3750" b="1">
                <a:solidFill>
                  <a:srgbClr val="F8766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8766D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D2817F-78DE-430F-A9E5-20226F6C20B3}"/>
              </a:ext>
            </a:extLst>
          </p:cNvPr>
          <p:cNvSpPr>
            <a:spLocks noGrp="1"/>
          </p:cNvSpPr>
          <p:nvPr/>
        </p:nvSpPr>
        <p:spPr>
          <a:xfrm>
            <a:off x="666750" y="4343400"/>
            <a:ext cx="3000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C pathways mapped and clustered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FF6145-9612-4F7E-BF89-B73E3929321D}"/>
              </a:ext>
            </a:extLst>
          </p:cNvPr>
          <p:cNvSpPr>
            <a:spLocks noGrp="1"/>
          </p:cNvSpPr>
          <p:nvPr/>
        </p:nvSpPr>
        <p:spPr>
          <a:xfrm>
            <a:off x="4295775" y="2724150"/>
            <a:ext cx="3600450" cy="2667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1D6F88-A5BD-4649-99BE-0918CD1D4C9B}"/>
              </a:ext>
            </a:extLst>
          </p:cNvPr>
          <p:cNvSpPr>
            <a:spLocks noGrp="1"/>
          </p:cNvSpPr>
          <p:nvPr/>
        </p:nvSpPr>
        <p:spPr>
          <a:xfrm>
            <a:off x="4295775" y="2724150"/>
            <a:ext cx="3600450" cy="76200"/>
          </a:xfrm>
          <a:prstGeom prst="rect">
            <a:avLst/>
          </a:prstGeom>
          <a:solidFill>
            <a:srgbClr val="7CAE0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84151E-D494-412D-A54F-DC7DCAA3E772}"/>
              </a:ext>
            </a:extLst>
          </p:cNvPr>
          <p:cNvSpPr>
            <a:spLocks noGrp="1"/>
          </p:cNvSpPr>
          <p:nvPr/>
        </p:nvSpPr>
        <p:spPr>
          <a:xfrm>
            <a:off x="4562475" y="3181350"/>
            <a:ext cx="304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l">
              <a:buNone/>
              <a:defRPr sz="3750" b="1">
                <a:solidFill>
                  <a:srgbClr val="7CAE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7CAE00"/>
                </a:solidFill>
                <a:latin typeface="Arial"/>
                <a:ea typeface="Arial"/>
                <a:cs typeface="Arial"/>
              </a:rPr>
              <a:t>985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0F3241-0232-4D42-8977-7CE2A634B6D5}"/>
              </a:ext>
            </a:extLst>
          </p:cNvPr>
          <p:cNvSpPr>
            <a:spLocks noGrp="1"/>
          </p:cNvSpPr>
          <p:nvPr/>
        </p:nvSpPr>
        <p:spPr>
          <a:xfrm>
            <a:off x="4562475" y="4343400"/>
            <a:ext cx="3000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D KOs clustered from 1,312 requested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CAFBCA-88E8-4557-9F1E-ABA9CCAAF5E1}"/>
              </a:ext>
            </a:extLst>
          </p:cNvPr>
          <p:cNvSpPr>
            <a:spLocks noGrp="1"/>
          </p:cNvSpPr>
          <p:nvPr/>
        </p:nvSpPr>
        <p:spPr>
          <a:xfrm>
            <a:off x="8191500" y="2724150"/>
            <a:ext cx="3600450" cy="2667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815395-E368-4070-936C-452E1234DFDF}"/>
              </a:ext>
            </a:extLst>
          </p:cNvPr>
          <p:cNvSpPr>
            <a:spLocks noGrp="1"/>
          </p:cNvSpPr>
          <p:nvPr/>
        </p:nvSpPr>
        <p:spPr>
          <a:xfrm>
            <a:off x="8191500" y="2724150"/>
            <a:ext cx="3600450" cy="76200"/>
          </a:xfrm>
          <a:prstGeom prst="rect">
            <a:avLst/>
          </a:prstGeom>
          <a:solidFill>
            <a:srgbClr val="00BF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432658-BBA4-4BE6-8A1C-DC44C4F62DB6}"/>
              </a:ext>
            </a:extLst>
          </p:cNvPr>
          <p:cNvSpPr>
            <a:spLocks noGrp="1"/>
          </p:cNvSpPr>
          <p:nvPr/>
        </p:nvSpPr>
        <p:spPr>
          <a:xfrm>
            <a:off x="8458200" y="3181350"/>
            <a:ext cx="304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l">
              <a:buNone/>
              <a:defRPr sz="3750" b="1">
                <a:solidFill>
                  <a:srgbClr val="00BFC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BFC4"/>
                </a:solidFill>
                <a:latin typeface="Arial"/>
                <a:ea typeface="Arial"/>
                <a:cs typeface="Arial"/>
              </a:rPr>
              <a:t>k = 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8739D5-5645-40E9-AF51-B8072570C2C1}"/>
              </a:ext>
            </a:extLst>
          </p:cNvPr>
          <p:cNvSpPr>
            <a:spLocks noGrp="1"/>
          </p:cNvSpPr>
          <p:nvPr/>
        </p:nvSpPr>
        <p:spPr>
          <a:xfrm>
            <a:off x="8458200" y="4343400"/>
            <a:ext cx="3000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automatic elbow at both annotation levels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D58355-37A2-4149-8C7E-4BE9E1F97DF9}"/>
              </a:ext>
            </a:extLst>
          </p:cNvPr>
          <p:cNvSpPr>
            <a:spLocks noGrp="1"/>
          </p:cNvSpPr>
          <p:nvPr/>
        </p:nvSpPr>
        <p:spPr>
          <a:xfrm>
            <a:off x="400050" y="5715000"/>
            <a:ext cx="1114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Significant within the targeted set: 20 BRITE C pathways and 230 BRITE D KOs. Distance: 1 - Pearson correlation; linkage: Ward.D2.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0A2BCB-C89C-4E27-BD6B-249E06F1816A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Results/MicroResp_targeted_BRITE_C_D/*_run_summary.csv</a:t>
            </a:r>
          </a:p>
        </p:txBody>
      </p:sp>
    </p:spTree>
    <p:extLst>
      <p:ext uri="{BB962C8B-B14F-4D97-AF65-F5344CB8AC3E}">
        <p14:creationId xmlns:p14="http://schemas.microsoft.com/office/powerpoint/2010/main" val="640776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CE9F1EF-8060-4CB9-97FA-EDFB907A8AA0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MICRORESP-LINKED EXPRESSION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BCAE96-88CE-45B9-B089-CC8DE07BE989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29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783" lnSpcReduction="20000"/>
          </a:bodyPr>
          <a:lstStyle/>
          <a:p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Both functional resolutions support three temporal expression clusters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83D9F3-300C-4384-81C9-89D0B0F5A373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F3EFB6-EA0E-48C0-B635-1C8EEDE84DFE}"/>
              </a:ext>
            </a:extLst>
          </p:cNvPr>
          <p:cNvSpPr>
            <a:spLocks noGrp="1"/>
          </p:cNvSpPr>
          <p:nvPr/>
        </p:nvSpPr>
        <p:spPr>
          <a:xfrm>
            <a:off x="11287125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66E5CA-0080-49B2-9AF0-338989CA2612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5334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Picture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" y="1844278"/>
            <a:ext cx="5219700" cy="358854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9A41229-6191-49E3-B29C-DE6F126C29CF}"/>
              </a:ext>
            </a:extLst>
          </p:cNvPr>
          <p:cNvSpPr>
            <a:spLocks noGrp="1"/>
          </p:cNvSpPr>
          <p:nvPr/>
        </p:nvSpPr>
        <p:spPr>
          <a:xfrm>
            <a:off x="6096000" y="1638300"/>
            <a:ext cx="5334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Picture 1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134100" y="1844278"/>
            <a:ext cx="5219700" cy="358854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40FB5E9-92AC-4981-AB48-D1E20CBE0215}"/>
              </a:ext>
            </a:extLst>
          </p:cNvPr>
          <p:cNvSpPr>
            <a:spLocks noGrp="1"/>
          </p:cNvSpPr>
          <p:nvPr/>
        </p:nvSpPr>
        <p:spPr>
          <a:xfrm>
            <a:off x="476250" y="140027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D64A7F-E1E9-470D-B830-7E1A797B9D4D}"/>
              </a:ext>
            </a:extLst>
          </p:cNvPr>
          <p:cNvSpPr>
            <a:spLocks noGrp="1"/>
          </p:cNvSpPr>
          <p:nvPr/>
        </p:nvSpPr>
        <p:spPr>
          <a:xfrm>
            <a:off x="6134100" y="136207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62C0A3-FE3E-432F-B3A8-D7E41875AAC7}"/>
              </a:ext>
            </a:extLst>
          </p:cNvPr>
          <p:cNvSpPr>
            <a:spLocks noGrp="1"/>
          </p:cNvSpPr>
          <p:nvPr/>
        </p:nvSpPr>
        <p:spPr>
          <a:xfrm>
            <a:off x="400050" y="5810250"/>
            <a:ext cx="1114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Within-cluster dissimilarity drops sharply through k = 3 at both levels. Higher k values continue to subdivide trajectories but add progressively smaller gains.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D0847B-DCEF-4ECC-B031-3999C332F6F9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MicroResp-targeted BRITE C/D elbow diagnostics; automatic selection, no manual override.</a:t>
            </a:r>
          </a:p>
        </p:txBody>
      </p:sp>
    </p:spTree>
    <p:extLst>
      <p:ext uri="{BB962C8B-B14F-4D97-AF65-F5344CB8AC3E}">
        <p14:creationId xmlns:p14="http://schemas.microsoft.com/office/powerpoint/2010/main" val="892424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846ACD-012A-464A-A70E-99FCEEF67AD6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MICRORESP-LINKED BRITE 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512582-1D9A-463F-BFE8-E70E2109F960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29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422"/>
          </a:bodyPr>
          <a:lstStyle/>
          <a:p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Twenty of 31 mapped pathways show targeted-set temporal significance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D08E2F-C923-4C36-893D-F61B720BDC5E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2B2CA1-8FA7-4EE3-82E5-5757266DD88C}"/>
              </a:ext>
            </a:extLst>
          </p:cNvPr>
          <p:cNvSpPr>
            <a:spLocks noGrp="1"/>
          </p:cNvSpPr>
          <p:nvPr/>
        </p:nvSpPr>
        <p:spPr>
          <a:xfrm>
            <a:off x="11287125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FFC053-BE6E-4045-B39B-39F68BA56643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6953250" cy="41719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Picture 22"/>
          <p:cNvPicPr>
            <a:picLocks noChangeAspect="1"/>
          </p:cNvPicPr>
          <p:nvPr/>
        </p:nvPicPr>
        <p:blipFill>
          <a:blip r:embed="rId3"/>
          <a:srcRect l="325" r="325"/>
          <a:stretch>
            <a:fillRect/>
          </a:stretch>
        </p:blipFill>
        <p:spPr>
          <a:xfrm>
            <a:off x="556780" y="1714500"/>
            <a:ext cx="6639791" cy="40576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CA2731B-3DA4-47A0-B562-B329075F774C}"/>
              </a:ext>
            </a:extLst>
          </p:cNvPr>
          <p:cNvSpPr>
            <a:spLocks noGrp="1"/>
          </p:cNvSpPr>
          <p:nvPr/>
        </p:nvSpPr>
        <p:spPr>
          <a:xfrm>
            <a:off x="7715250" y="1924050"/>
            <a:ext cx="133350" cy="133350"/>
          </a:xfrm>
          <a:prstGeom prst="rect">
            <a:avLst/>
          </a:prstGeom>
          <a:solidFill>
            <a:srgbClr val="F876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3EF473-7F7F-4411-9D72-A2AF51D2881A}"/>
              </a:ext>
            </a:extLst>
          </p:cNvPr>
          <p:cNvSpPr>
            <a:spLocks noGrp="1"/>
          </p:cNvSpPr>
          <p:nvPr/>
        </p:nvSpPr>
        <p:spPr>
          <a:xfrm>
            <a:off x="7943850" y="1885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2800" lnSpcReduction="10000"/>
          </a:bodyPr>
          <a:lstStyle/>
          <a:p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1 | 12 pathways: biosynthesis, glycan use, and aromatic degradation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9A671-1D02-4525-956A-FD4FF04D7650}"/>
              </a:ext>
            </a:extLst>
          </p:cNvPr>
          <p:cNvSpPr>
            <a:spLocks noGrp="1"/>
          </p:cNvSpPr>
          <p:nvPr/>
        </p:nvSpPr>
        <p:spPr>
          <a:xfrm>
            <a:off x="7715250" y="2324100"/>
            <a:ext cx="133350" cy="133350"/>
          </a:xfrm>
          <a:prstGeom prst="rect">
            <a:avLst/>
          </a:prstGeom>
          <a:solidFill>
            <a:srgbClr val="7CAE0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D341D0-D547-4B0D-B420-74B7BFB5239F}"/>
              </a:ext>
            </a:extLst>
          </p:cNvPr>
          <p:cNvSpPr>
            <a:spLocks noGrp="1"/>
          </p:cNvSpPr>
          <p:nvPr/>
        </p:nvSpPr>
        <p:spPr>
          <a:xfrm>
            <a:off x="7943850" y="22860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0976" lnSpcReduction="20000"/>
          </a:bodyPr>
          <a:lstStyle/>
          <a:p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2 | 13 pathways: TCA, N cycling, amino-acid and fatty-acid metabolism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8D17AA-FB3B-47B3-A5F5-1D850B35EB52}"/>
              </a:ext>
            </a:extLst>
          </p:cNvPr>
          <p:cNvSpPr>
            <a:spLocks noGrp="1"/>
          </p:cNvSpPr>
          <p:nvPr/>
        </p:nvSpPr>
        <p:spPr>
          <a:xfrm>
            <a:off x="7715250" y="2724150"/>
            <a:ext cx="133350" cy="133350"/>
          </a:xfrm>
          <a:prstGeom prst="rect">
            <a:avLst/>
          </a:prstGeom>
          <a:solidFill>
            <a:srgbClr val="00BF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A2F0B7-4C97-4F8B-BCAC-EEFD935D4757}"/>
              </a:ext>
            </a:extLst>
          </p:cNvPr>
          <p:cNvSpPr>
            <a:spLocks noGrp="1"/>
          </p:cNvSpPr>
          <p:nvPr/>
        </p:nvSpPr>
        <p:spPr>
          <a:xfrm>
            <a:off x="7943850" y="2686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2630" lnSpcReduction="10000"/>
          </a:bodyPr>
          <a:lstStyle/>
          <a:p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3 | 6 pathways: glycolysis, pyruvate, lipid, butanoate functions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1D7284-DF29-49BB-AC01-544F69F9EF2D}"/>
              </a:ext>
            </a:extLst>
          </p:cNvPr>
          <p:cNvSpPr>
            <a:spLocks noGrp="1"/>
          </p:cNvSpPr>
          <p:nvPr/>
        </p:nvSpPr>
        <p:spPr>
          <a:xfrm>
            <a:off x="7658100" y="3638550"/>
            <a:ext cx="3752850" cy="19812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F6BC90-B59D-4404-92A1-9283AA669AEB}"/>
              </a:ext>
            </a:extLst>
          </p:cNvPr>
          <p:cNvSpPr>
            <a:spLocks noGrp="1"/>
          </p:cNvSpPr>
          <p:nvPr/>
        </p:nvSpPr>
        <p:spPr>
          <a:xfrm>
            <a:off x="7658100" y="3638550"/>
            <a:ext cx="66675" cy="1981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A20D75-E7EB-40F2-9091-5FB3281D042F}"/>
              </a:ext>
            </a:extLst>
          </p:cNvPr>
          <p:cNvSpPr>
            <a:spLocks noGrp="1"/>
          </p:cNvSpPr>
          <p:nvPr/>
        </p:nvSpPr>
        <p:spPr>
          <a:xfrm>
            <a:off x="7886700" y="38100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GAM 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9CB031-31A4-47A3-B3D9-DD68423330A2}"/>
              </a:ext>
            </a:extLst>
          </p:cNvPr>
          <p:cNvSpPr>
            <a:spLocks noGrp="1"/>
          </p:cNvSpPr>
          <p:nvPr/>
        </p:nvSpPr>
        <p:spPr>
          <a:xfrm>
            <a:off x="7886700" y="4181475"/>
            <a:ext cx="33528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The mapped pathway set contains broad, nonlinear time trends rather than a single synchronized response. Strong signals include arginine biosynthesis, N metabolism, amino-sugar metabolism, and aromatic-compound degradation.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96D4F7-4D28-4FA7-82DD-F691F4910A3B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brite_C_MicroResp_GAM_statistics.csv and targeted GAM panels</a:t>
            </a:r>
          </a:p>
        </p:txBody>
      </p:sp>
    </p:spTree>
    <p:extLst>
      <p:ext uri="{BB962C8B-B14F-4D97-AF65-F5344CB8AC3E}">
        <p14:creationId xmlns:p14="http://schemas.microsoft.com/office/powerpoint/2010/main" val="352653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3039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9BD5A5E-9195-4247-A5F2-C1731E6E1FA7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MICRORESP-LINKED BRITE 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6E5BB4-9696-4D29-9740-2D78377D38FF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29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0678" lnSpcReduction="10000"/>
          </a:bodyPr>
          <a:lstStyle/>
          <a:p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Pathway clusters separate broad winter activity from shorter seasonal modes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519F41-E720-46E0-A748-19D92C187175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192A50-1B9F-40F3-B7D7-DF65612F18E4}"/>
              </a:ext>
            </a:extLst>
          </p:cNvPr>
          <p:cNvSpPr>
            <a:spLocks noGrp="1"/>
          </p:cNvSpPr>
          <p:nvPr/>
        </p:nvSpPr>
        <p:spPr>
          <a:xfrm>
            <a:off x="11287125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26CE9F-516C-487B-8435-F3227AF92D50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47625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7" name="Picture 25"/>
          <p:cNvPicPr>
            <a:picLocks noChangeAspect="1"/>
          </p:cNvPicPr>
          <p:nvPr/>
        </p:nvPicPr>
        <p:blipFill>
          <a:blip r:embed="rId3"/>
          <a:srcRect l="18295" r="18295"/>
          <a:stretch>
            <a:fillRect/>
          </a:stretch>
        </p:blipFill>
        <p:spPr>
          <a:xfrm>
            <a:off x="923925" y="1676400"/>
            <a:ext cx="3714750" cy="44577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5222EC3-E99F-4DE7-BE7A-5A4D7C2570B6}"/>
              </a:ext>
            </a:extLst>
          </p:cNvPr>
          <p:cNvSpPr>
            <a:spLocks noGrp="1"/>
          </p:cNvSpPr>
          <p:nvPr/>
        </p:nvSpPr>
        <p:spPr>
          <a:xfrm>
            <a:off x="5505450" y="1657350"/>
            <a:ext cx="5905500" cy="1143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080D92-AFA6-476A-A2A8-D038F2206C1A}"/>
              </a:ext>
            </a:extLst>
          </p:cNvPr>
          <p:cNvSpPr>
            <a:spLocks noGrp="1"/>
          </p:cNvSpPr>
          <p:nvPr/>
        </p:nvSpPr>
        <p:spPr>
          <a:xfrm>
            <a:off x="5505450" y="1657350"/>
            <a:ext cx="66675" cy="1143000"/>
          </a:xfrm>
          <a:prstGeom prst="rect">
            <a:avLst/>
          </a:prstGeom>
          <a:solidFill>
            <a:srgbClr val="F876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6F2225-E048-4118-98FB-5F2CF57B14AE}"/>
              </a:ext>
            </a:extLst>
          </p:cNvPr>
          <p:cNvSpPr>
            <a:spLocks noGrp="1"/>
          </p:cNvSpPr>
          <p:nvPr/>
        </p:nvSpPr>
        <p:spPr>
          <a:xfrm>
            <a:off x="5734050" y="1828800"/>
            <a:ext cx="550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Cluster 1 | 12 pathways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30E3AB-D179-47E2-9F9C-D443ECFDF274}"/>
              </a:ext>
            </a:extLst>
          </p:cNvPr>
          <p:cNvSpPr>
            <a:spLocks noGrp="1"/>
          </p:cNvSpPr>
          <p:nvPr/>
        </p:nvSpPr>
        <p:spPr>
          <a:xfrm>
            <a:off x="5734050" y="2200275"/>
            <a:ext cx="550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Pentose phosphate, glycan degradation, amino-acid biosynthesis, benzoate/aminobenzoate degradation, and folate-linked C1 metabolism.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18854E-752D-4F1E-AB59-CC83512AF1D8}"/>
              </a:ext>
            </a:extLst>
          </p:cNvPr>
          <p:cNvSpPr>
            <a:spLocks noGrp="1"/>
          </p:cNvSpPr>
          <p:nvPr/>
        </p:nvSpPr>
        <p:spPr>
          <a:xfrm>
            <a:off x="5505450" y="2971800"/>
            <a:ext cx="5905500" cy="1143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EA5554-B46C-4B2B-94A2-F2A018991F54}"/>
              </a:ext>
            </a:extLst>
          </p:cNvPr>
          <p:cNvSpPr>
            <a:spLocks noGrp="1"/>
          </p:cNvSpPr>
          <p:nvPr/>
        </p:nvSpPr>
        <p:spPr>
          <a:xfrm>
            <a:off x="5505450" y="2971800"/>
            <a:ext cx="66675" cy="1143000"/>
          </a:xfrm>
          <a:prstGeom prst="rect">
            <a:avLst/>
          </a:prstGeom>
          <a:solidFill>
            <a:srgbClr val="7CAE0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232E02-DF8F-4508-A1EE-BA5801C9326E}"/>
              </a:ext>
            </a:extLst>
          </p:cNvPr>
          <p:cNvSpPr>
            <a:spLocks noGrp="1"/>
          </p:cNvSpPr>
          <p:nvPr/>
        </p:nvSpPr>
        <p:spPr>
          <a:xfrm>
            <a:off x="5734050" y="3143250"/>
            <a:ext cx="550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Cluster 2 | 13 pathways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21EB78-DEB8-43BB-9D64-9F23D155F273}"/>
              </a:ext>
            </a:extLst>
          </p:cNvPr>
          <p:cNvSpPr>
            <a:spLocks noGrp="1"/>
          </p:cNvSpPr>
          <p:nvPr/>
        </p:nvSpPr>
        <p:spPr>
          <a:xfrm>
            <a:off x="5734050" y="3514725"/>
            <a:ext cx="550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TCA and glyoxylate cycles, N metabolism, amino-sugar metabolism, fatty-acid degradation, and several amino-acid degradation routes.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E9D092-AC7F-4535-9195-2994EDE36A14}"/>
              </a:ext>
            </a:extLst>
          </p:cNvPr>
          <p:cNvSpPr>
            <a:spLocks noGrp="1"/>
          </p:cNvSpPr>
          <p:nvPr/>
        </p:nvSpPr>
        <p:spPr>
          <a:xfrm>
            <a:off x="5505450" y="4286250"/>
            <a:ext cx="5905500" cy="1143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5D964D-554F-4AE0-BE68-720FF39F797B}"/>
              </a:ext>
            </a:extLst>
          </p:cNvPr>
          <p:cNvSpPr>
            <a:spLocks noGrp="1"/>
          </p:cNvSpPr>
          <p:nvPr/>
        </p:nvSpPr>
        <p:spPr>
          <a:xfrm>
            <a:off x="5505450" y="4286250"/>
            <a:ext cx="66675" cy="1143000"/>
          </a:xfrm>
          <a:prstGeom prst="rect">
            <a:avLst/>
          </a:prstGeom>
          <a:solidFill>
            <a:srgbClr val="00BF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CB45F3-9C32-45E0-A3EE-C3A1E6847EEA}"/>
              </a:ext>
            </a:extLst>
          </p:cNvPr>
          <p:cNvSpPr>
            <a:spLocks noGrp="1"/>
          </p:cNvSpPr>
          <p:nvPr/>
        </p:nvSpPr>
        <p:spPr>
          <a:xfrm>
            <a:off x="5734050" y="4457700"/>
            <a:ext cx="550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Cluster 3 | 6 pathways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F036BE-865E-4041-A635-284510D2F174}"/>
              </a:ext>
            </a:extLst>
          </p:cNvPr>
          <p:cNvSpPr>
            <a:spLocks noGrp="1"/>
          </p:cNvSpPr>
          <p:nvPr/>
        </p:nvSpPr>
        <p:spPr>
          <a:xfrm>
            <a:off x="5734050" y="4829175"/>
            <a:ext cx="550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Glycolysis, pyruvate and butanoate metabolism, glycerolipid and glycerophospholipid metabolism, plus naphthalene degradation.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1F8332-02E1-4207-886C-2AA9D75301F3}"/>
              </a:ext>
            </a:extLst>
          </p:cNvPr>
          <p:cNvSpPr>
            <a:spLocks noGrp="1"/>
          </p:cNvSpPr>
          <p:nvPr/>
        </p:nvSpPr>
        <p:spPr>
          <a:xfrm>
            <a:off x="5505450" y="5619750"/>
            <a:ext cx="590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63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The heatmap includes every mapped, converged BRITE C pathway. Rows are z-scored, so color represents trajectory shape rather than absolute expression.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2EBCDA-D7DA-44B3-874F-0F6012F0FF17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brite_C_MicroResp_cluster_assignments.csv and brite_C_MicroResp_heatmap.png</a:t>
            </a:r>
          </a:p>
        </p:txBody>
      </p:sp>
    </p:spTree>
    <p:extLst>
      <p:ext uri="{BB962C8B-B14F-4D97-AF65-F5344CB8AC3E}">
        <p14:creationId xmlns:p14="http://schemas.microsoft.com/office/powerpoint/2010/main" val="1573252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55FE0D1-4A61-4111-9C0A-5B93AB78E8B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MICRORESP-LINKED BRITE 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432386-AAAA-44D1-B52C-949631A35A2F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29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501"/>
          </a:bodyPr>
          <a:lstStyle/>
          <a:p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KO-level GAMs reveal strong but heterogeneous seasonal expression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3FD196-12C1-4138-9EB6-1F56B8C6D24B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12FD07-CB41-4FDD-AAA2-F5D821BD8F23}"/>
              </a:ext>
            </a:extLst>
          </p:cNvPr>
          <p:cNvSpPr>
            <a:spLocks noGrp="1"/>
          </p:cNvSpPr>
          <p:nvPr/>
        </p:nvSpPr>
        <p:spPr>
          <a:xfrm>
            <a:off x="11287125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DCD39B-88A5-405C-A429-4A0ABF08111C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6953250" cy="41719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Picture 22"/>
          <p:cNvPicPr>
            <a:picLocks noChangeAspect="1"/>
          </p:cNvPicPr>
          <p:nvPr/>
        </p:nvPicPr>
        <p:blipFill>
          <a:blip r:embed="rId3"/>
          <a:srcRect l="325" r="325"/>
          <a:stretch>
            <a:fillRect/>
          </a:stretch>
        </p:blipFill>
        <p:spPr>
          <a:xfrm>
            <a:off x="556780" y="1714500"/>
            <a:ext cx="6639791" cy="40576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78D219-8DD9-4963-B3BA-211A2F36BA4A}"/>
              </a:ext>
            </a:extLst>
          </p:cNvPr>
          <p:cNvSpPr>
            <a:spLocks noGrp="1"/>
          </p:cNvSpPr>
          <p:nvPr/>
        </p:nvSpPr>
        <p:spPr>
          <a:xfrm>
            <a:off x="7715250" y="1924050"/>
            <a:ext cx="133350" cy="133350"/>
          </a:xfrm>
          <a:prstGeom prst="rect">
            <a:avLst/>
          </a:prstGeom>
          <a:solidFill>
            <a:srgbClr val="F876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2C4817-8958-4542-9D57-060FF9ACB89B}"/>
              </a:ext>
            </a:extLst>
          </p:cNvPr>
          <p:cNvSpPr>
            <a:spLocks noGrp="1"/>
          </p:cNvSpPr>
          <p:nvPr/>
        </p:nvSpPr>
        <p:spPr>
          <a:xfrm>
            <a:off x="7943850" y="1885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8178" lnSpcReduction="20000"/>
          </a:bodyPr>
          <a:lstStyle/>
          <a:p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1 | 477 KOs (48%): includes urease, polyamine, TCA, and aromatic-use genes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5D14AF-7F15-4FCC-BFB7-3E1347BFF68E}"/>
              </a:ext>
            </a:extLst>
          </p:cNvPr>
          <p:cNvSpPr>
            <a:spLocks noGrp="1"/>
          </p:cNvSpPr>
          <p:nvPr/>
        </p:nvSpPr>
        <p:spPr>
          <a:xfrm>
            <a:off x="7715250" y="2324100"/>
            <a:ext cx="133350" cy="133350"/>
          </a:xfrm>
          <a:prstGeom prst="rect">
            <a:avLst/>
          </a:prstGeom>
          <a:solidFill>
            <a:srgbClr val="7CAE0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392CB9-5CCC-42AC-B708-38BF57783C3E}"/>
              </a:ext>
            </a:extLst>
          </p:cNvPr>
          <p:cNvSpPr>
            <a:spLocks noGrp="1"/>
          </p:cNvSpPr>
          <p:nvPr/>
        </p:nvSpPr>
        <p:spPr>
          <a:xfrm>
            <a:off x="7943850" y="22860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8178" lnSpcReduction="20000"/>
          </a:bodyPr>
          <a:lstStyle/>
          <a:p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2 | 245 KOs (25%): includes nitrate reduction and storage-carbon functions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37B8FE-64FC-4A0A-A0A2-6D1167B1BA1B}"/>
              </a:ext>
            </a:extLst>
          </p:cNvPr>
          <p:cNvSpPr>
            <a:spLocks noGrp="1"/>
          </p:cNvSpPr>
          <p:nvPr/>
        </p:nvSpPr>
        <p:spPr>
          <a:xfrm>
            <a:off x="7715250" y="2724150"/>
            <a:ext cx="133350" cy="133350"/>
          </a:xfrm>
          <a:prstGeom prst="rect">
            <a:avLst/>
          </a:prstGeom>
          <a:solidFill>
            <a:srgbClr val="00BF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AF9452-9E52-46F8-9DDF-4B4052FADEA3}"/>
              </a:ext>
            </a:extLst>
          </p:cNvPr>
          <p:cNvSpPr>
            <a:spLocks noGrp="1"/>
          </p:cNvSpPr>
          <p:nvPr/>
        </p:nvSpPr>
        <p:spPr>
          <a:xfrm>
            <a:off x="7943850" y="2686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1964" lnSpcReduction="20000"/>
          </a:bodyPr>
          <a:lstStyle/>
          <a:p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3 | 263 KOs (27%): includes sugar, amino-acid, and N-oxide functions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DC905B-1D1F-47F6-A212-AC609130F276}"/>
              </a:ext>
            </a:extLst>
          </p:cNvPr>
          <p:cNvSpPr>
            <a:spLocks noGrp="1"/>
          </p:cNvSpPr>
          <p:nvPr/>
        </p:nvSpPr>
        <p:spPr>
          <a:xfrm>
            <a:off x="7658100" y="3638550"/>
            <a:ext cx="3752850" cy="19812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36D640-E58D-4C53-AB25-EC6ADB716D61}"/>
              </a:ext>
            </a:extLst>
          </p:cNvPr>
          <p:cNvSpPr>
            <a:spLocks noGrp="1"/>
          </p:cNvSpPr>
          <p:nvPr/>
        </p:nvSpPr>
        <p:spPr>
          <a:xfrm>
            <a:off x="7658100" y="3638550"/>
            <a:ext cx="66675" cy="1981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1CDCC4-5D19-4280-9123-46A2513F709F}"/>
              </a:ext>
            </a:extLst>
          </p:cNvPr>
          <p:cNvSpPr>
            <a:spLocks noGrp="1"/>
          </p:cNvSpPr>
          <p:nvPr/>
        </p:nvSpPr>
        <p:spPr>
          <a:xfrm>
            <a:off x="7886700" y="38100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Resolution matters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289DF0-763E-4036-8A53-DAE0EB89F2AA}"/>
              </a:ext>
            </a:extLst>
          </p:cNvPr>
          <p:cNvSpPr>
            <a:spLocks noGrp="1"/>
          </p:cNvSpPr>
          <p:nvPr/>
        </p:nvSpPr>
        <p:spPr>
          <a:xfrm>
            <a:off x="7886700" y="4181475"/>
            <a:ext cx="33528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555B66"/>
                </a:solidFill>
                <a:latin typeface="Arial"/>
                <a:ea typeface="Arial"/>
                <a:cs typeface="Arial"/>
              </a:rPr>
              <a:t>Of 1,312 mapped KOs requested; 230 were temporally significant</a:t>
            </a:r>
            <a:r>
              <a:rPr lang="en-US" sz="1275" dirty="0">
                <a:solidFill>
                  <a:srgbClr val="555B66"/>
                </a:solidFill>
                <a:latin typeface="Arial"/>
                <a:ea typeface="Arial"/>
                <a:cs typeface="Arial"/>
              </a:rPr>
              <a:t>, 985 converged and were clustered</a:t>
            </a:r>
            <a:r>
              <a:rPr sz="1275" b="0" dirty="0">
                <a:solidFill>
                  <a:srgbClr val="555B66"/>
                </a:solidFill>
                <a:latin typeface="Arial"/>
                <a:ea typeface="Arial"/>
                <a:cs typeface="Arial"/>
              </a:rPr>
              <a:t> within the targeted set. KO diversity shows that pathway-level averages can conceal opposing constituent trajectories.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9F0A96-6C8A-4635-B5AF-8DA7379114C0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brite_D_MicroResp_GAM_statistics.csv and targeted GAM panels</a:t>
            </a:r>
          </a:p>
        </p:txBody>
      </p:sp>
    </p:spTree>
    <p:extLst>
      <p:ext uri="{BB962C8B-B14F-4D97-AF65-F5344CB8AC3E}">
        <p14:creationId xmlns:p14="http://schemas.microsoft.com/office/powerpoint/2010/main" val="1077226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239160-7EC8-59F6-75C0-5F0B04A5F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358" y="504857"/>
            <a:ext cx="9963284" cy="584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079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834484-93CF-4C34-4FC8-4C03FD3C0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26" y="591411"/>
            <a:ext cx="8991609" cy="549487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C00A7F8-23D4-A1FA-0421-EF42EAEED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738" y="3989111"/>
            <a:ext cx="3583130" cy="265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50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6A441F-A9D7-4738-B165-96017D29907F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MICRORESP-LINKED BRITE 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415BE0-2CFC-4A05-A97F-163F56601325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29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560" lnSpcReduction="10000"/>
          </a:bodyPr>
          <a:lstStyle/>
          <a:p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strongest KO trajectories connect C use with nitrogen and stress metabolism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789BF5-961D-4D9E-86C0-F0143B1559F0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8930BA-A859-4120-8271-D0A51E9AC44A}"/>
              </a:ext>
            </a:extLst>
          </p:cNvPr>
          <p:cNvSpPr>
            <a:spLocks noGrp="1"/>
          </p:cNvSpPr>
          <p:nvPr/>
        </p:nvSpPr>
        <p:spPr>
          <a:xfrm>
            <a:off x="11287125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4056B6-DB70-4863-9719-1EBC95376465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47625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7" name="Picture 25"/>
          <p:cNvPicPr>
            <a:picLocks noChangeAspect="1"/>
          </p:cNvPicPr>
          <p:nvPr/>
        </p:nvPicPr>
        <p:blipFill>
          <a:blip r:embed="rId3"/>
          <a:srcRect l="13182" r="13182"/>
          <a:stretch>
            <a:fillRect/>
          </a:stretch>
        </p:blipFill>
        <p:spPr>
          <a:xfrm>
            <a:off x="1295400" y="1676400"/>
            <a:ext cx="2971800" cy="44577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618823E-D0BE-451D-9586-F37E36B09B5E}"/>
              </a:ext>
            </a:extLst>
          </p:cNvPr>
          <p:cNvSpPr>
            <a:spLocks noGrp="1"/>
          </p:cNvSpPr>
          <p:nvPr/>
        </p:nvSpPr>
        <p:spPr>
          <a:xfrm>
            <a:off x="5505450" y="1657350"/>
            <a:ext cx="5905500" cy="1143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7426F9-5F55-4B4A-8B75-BB9A12DE176A}"/>
              </a:ext>
            </a:extLst>
          </p:cNvPr>
          <p:cNvSpPr>
            <a:spLocks noGrp="1"/>
          </p:cNvSpPr>
          <p:nvPr/>
        </p:nvSpPr>
        <p:spPr>
          <a:xfrm>
            <a:off x="5505450" y="1657350"/>
            <a:ext cx="66675" cy="1143000"/>
          </a:xfrm>
          <a:prstGeom prst="rect">
            <a:avLst/>
          </a:prstGeom>
          <a:solidFill>
            <a:srgbClr val="F8766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EC5540-1AC7-4E17-96F6-45643609F174}"/>
              </a:ext>
            </a:extLst>
          </p:cNvPr>
          <p:cNvSpPr>
            <a:spLocks noGrp="1"/>
          </p:cNvSpPr>
          <p:nvPr/>
        </p:nvSpPr>
        <p:spPr>
          <a:xfrm>
            <a:off x="5734050" y="1828800"/>
            <a:ext cx="550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Cluster 1 | 477 KOs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0B1DE1-4EBE-4B49-9390-B19C2F6B587B}"/>
              </a:ext>
            </a:extLst>
          </p:cNvPr>
          <p:cNvSpPr>
            <a:spLocks noGrp="1"/>
          </p:cNvSpPr>
          <p:nvPr/>
        </p:nvSpPr>
        <p:spPr>
          <a:xfrm>
            <a:off x="5734050" y="2200275"/>
            <a:ext cx="550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621"/>
          </a:bodyPr>
          <a:lstStyle/>
          <a:p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Representative high-variance features include ureA/ureB, ornithine decarboxylase, aconitate hydratase, PRPP synthetase, and aromatic-degradation enzymes.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5F3977-4351-4CCF-BF12-B8E684D99D0D}"/>
              </a:ext>
            </a:extLst>
          </p:cNvPr>
          <p:cNvSpPr>
            <a:spLocks noGrp="1"/>
          </p:cNvSpPr>
          <p:nvPr/>
        </p:nvSpPr>
        <p:spPr>
          <a:xfrm>
            <a:off x="5505450" y="2971800"/>
            <a:ext cx="5905500" cy="1143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91E36F-CDF4-4644-88EB-0C79444D51F3}"/>
              </a:ext>
            </a:extLst>
          </p:cNvPr>
          <p:cNvSpPr>
            <a:spLocks noGrp="1"/>
          </p:cNvSpPr>
          <p:nvPr/>
        </p:nvSpPr>
        <p:spPr>
          <a:xfrm>
            <a:off x="5505450" y="2971800"/>
            <a:ext cx="66675" cy="1143000"/>
          </a:xfrm>
          <a:prstGeom prst="rect">
            <a:avLst/>
          </a:prstGeom>
          <a:solidFill>
            <a:srgbClr val="7CAE0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F06DB5-8A92-46AD-A08D-AADA943BE2DE}"/>
              </a:ext>
            </a:extLst>
          </p:cNvPr>
          <p:cNvSpPr>
            <a:spLocks noGrp="1"/>
          </p:cNvSpPr>
          <p:nvPr/>
        </p:nvSpPr>
        <p:spPr>
          <a:xfrm>
            <a:off x="5734050" y="3143250"/>
            <a:ext cx="550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Cluster 2 | 245 KOs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2B78AE-0EAE-420D-978D-3EF285E5273A}"/>
              </a:ext>
            </a:extLst>
          </p:cNvPr>
          <p:cNvSpPr>
            <a:spLocks noGrp="1"/>
          </p:cNvSpPr>
          <p:nvPr/>
        </p:nvSpPr>
        <p:spPr>
          <a:xfrm>
            <a:off x="5734050" y="3514725"/>
            <a:ext cx="550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Representative features include narG/narH, nirK, glgC, glycerol-3-phosphate dehydrogenase, and amino-acid biosynthesis functions.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66A809-DBCE-48B2-AAB3-AEBD3D3C7482}"/>
              </a:ext>
            </a:extLst>
          </p:cNvPr>
          <p:cNvSpPr>
            <a:spLocks noGrp="1"/>
          </p:cNvSpPr>
          <p:nvPr/>
        </p:nvSpPr>
        <p:spPr>
          <a:xfrm>
            <a:off x="5505450" y="4286250"/>
            <a:ext cx="5905500" cy="1143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83453F-29FE-4B13-9D5F-D4775687ED45}"/>
              </a:ext>
            </a:extLst>
          </p:cNvPr>
          <p:cNvSpPr>
            <a:spLocks noGrp="1"/>
          </p:cNvSpPr>
          <p:nvPr/>
        </p:nvSpPr>
        <p:spPr>
          <a:xfrm>
            <a:off x="5505450" y="4286250"/>
            <a:ext cx="66675" cy="1143000"/>
          </a:xfrm>
          <a:prstGeom prst="rect">
            <a:avLst/>
          </a:prstGeom>
          <a:solidFill>
            <a:srgbClr val="00BF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3301B3-35CA-4C2F-AA62-6AAF823703F8}"/>
              </a:ext>
            </a:extLst>
          </p:cNvPr>
          <p:cNvSpPr>
            <a:spLocks noGrp="1"/>
          </p:cNvSpPr>
          <p:nvPr/>
        </p:nvSpPr>
        <p:spPr>
          <a:xfrm>
            <a:off x="5734050" y="4457700"/>
            <a:ext cx="550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Cluster 3 | 263 KOs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00E611-2AB3-451A-A300-064ED1AD4B1B}"/>
              </a:ext>
            </a:extLst>
          </p:cNvPr>
          <p:cNvSpPr>
            <a:spLocks noGrp="1"/>
          </p:cNvSpPr>
          <p:nvPr/>
        </p:nvSpPr>
        <p:spPr>
          <a:xfrm>
            <a:off x="5734050" y="4829175"/>
            <a:ext cx="550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Representative features include alcohol dehydrogenase, arabinose isomerase, chitobiose phosphorylase, asparagine synthetase, and norB.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4AC30E-266B-4B73-8C75-F8738AA6E810}"/>
              </a:ext>
            </a:extLst>
          </p:cNvPr>
          <p:cNvSpPr>
            <a:spLocks noGrp="1"/>
          </p:cNvSpPr>
          <p:nvPr/>
        </p:nvSpPr>
        <p:spPr>
          <a:xfrm>
            <a:off x="5505450" y="5619750"/>
            <a:ext cx="590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63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For readability, the BRITE D heatmap shows the top 15 features per cluster ranked by time-only variance explained; all 985 converged KOs remain in the clustering.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6481AC-8ECA-4A0E-9D76-7C50B9D9CED3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brite_D_MicroResp_heatmap_feature_selection.csv</a:t>
            </a:r>
          </a:p>
        </p:txBody>
      </p:sp>
    </p:spTree>
    <p:extLst>
      <p:ext uri="{BB962C8B-B14F-4D97-AF65-F5344CB8AC3E}">
        <p14:creationId xmlns:p14="http://schemas.microsoft.com/office/powerpoint/2010/main" val="271285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48E64BB8-873F-4530-8C58-1B6835D0971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STORYBOARD SYNTHESIS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250F80-87AD-40DB-85F4-B9FA1D272D57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29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560" lnSpcReduction="10000"/>
          </a:bodyPr>
          <a:lstStyle/>
          <a:p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Targeted expression partly supports the winter phenotype, not a one-to-one match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533C89-DCE1-49C7-821B-B6F3484519DC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F9C051-806F-408E-A947-9A1992A4F74D}"/>
              </a:ext>
            </a:extLst>
          </p:cNvPr>
          <p:cNvSpPr>
            <a:spLocks noGrp="1"/>
          </p:cNvSpPr>
          <p:nvPr/>
        </p:nvSpPr>
        <p:spPr>
          <a:xfrm>
            <a:off x="11287125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028CA8-4131-4345-B803-81571F858CE5}"/>
              </a:ext>
            </a:extLst>
          </p:cNvPr>
          <p:cNvSpPr>
            <a:spLocks noGrp="1"/>
          </p:cNvSpPr>
          <p:nvPr/>
        </p:nvSpPr>
        <p:spPr>
          <a:xfrm>
            <a:off x="2280365" y="2362200"/>
            <a:ext cx="2476500" cy="514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A15904-5D63-4106-AC3B-8E1AC21727C9}"/>
              </a:ext>
            </a:extLst>
          </p:cNvPr>
          <p:cNvSpPr>
            <a:spLocks noGrp="1"/>
          </p:cNvSpPr>
          <p:nvPr/>
        </p:nvSpPr>
        <p:spPr>
          <a:xfrm>
            <a:off x="2413715" y="2505075"/>
            <a:ext cx="2209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Storyboard claim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D5B5DA-8E4F-46CD-A10C-782C3CB8D407}"/>
              </a:ext>
            </a:extLst>
          </p:cNvPr>
          <p:cNvSpPr>
            <a:spLocks noGrp="1"/>
          </p:cNvSpPr>
          <p:nvPr/>
        </p:nvSpPr>
        <p:spPr>
          <a:xfrm>
            <a:off x="4833065" y="2362200"/>
            <a:ext cx="2257425" cy="514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451E4E-AE5C-4CCC-9E2D-F8D554CA2BD4}"/>
              </a:ext>
            </a:extLst>
          </p:cNvPr>
          <p:cNvSpPr>
            <a:spLocks noGrp="1"/>
          </p:cNvSpPr>
          <p:nvPr/>
        </p:nvSpPr>
        <p:spPr>
          <a:xfrm>
            <a:off x="4966415" y="2505075"/>
            <a:ext cx="19907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Targeted BRITE 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D31711-EAE0-4CFD-AB5F-13C6DE2A6DC2}"/>
              </a:ext>
            </a:extLst>
          </p:cNvPr>
          <p:cNvSpPr>
            <a:spLocks noGrp="1"/>
          </p:cNvSpPr>
          <p:nvPr/>
        </p:nvSpPr>
        <p:spPr>
          <a:xfrm>
            <a:off x="7166690" y="2362200"/>
            <a:ext cx="2257425" cy="514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D19DBA-BED5-4F1C-BF86-D43A90CEDE89}"/>
              </a:ext>
            </a:extLst>
          </p:cNvPr>
          <p:cNvSpPr>
            <a:spLocks noGrp="1"/>
          </p:cNvSpPr>
          <p:nvPr/>
        </p:nvSpPr>
        <p:spPr>
          <a:xfrm>
            <a:off x="7300040" y="2505075"/>
            <a:ext cx="19907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Targeted BRITE 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ECCC62-52B0-4DD8-BCD9-30BB0F5D09B4}"/>
              </a:ext>
            </a:extLst>
          </p:cNvPr>
          <p:cNvSpPr>
            <a:spLocks noGrp="1"/>
          </p:cNvSpPr>
          <p:nvPr/>
        </p:nvSpPr>
        <p:spPr>
          <a:xfrm>
            <a:off x="2280365" y="2876550"/>
            <a:ext cx="2476500" cy="95250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438E7B-01B4-44C0-B571-236592944081}"/>
              </a:ext>
            </a:extLst>
          </p:cNvPr>
          <p:cNvSpPr>
            <a:spLocks noGrp="1"/>
          </p:cNvSpPr>
          <p:nvPr/>
        </p:nvSpPr>
        <p:spPr>
          <a:xfrm>
            <a:off x="2413715" y="3048000"/>
            <a:ext cx="2209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Broad winter/early-spring phenotype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D4C9F2-3389-46E6-9E24-5C84C8624412}"/>
              </a:ext>
            </a:extLst>
          </p:cNvPr>
          <p:cNvSpPr>
            <a:spLocks noGrp="1"/>
          </p:cNvSpPr>
          <p:nvPr/>
        </p:nvSpPr>
        <p:spPr>
          <a:xfrm>
            <a:off x="4833065" y="2876550"/>
            <a:ext cx="2257425" cy="95250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F73D1C-F48A-49E4-9D9A-27E27E6C7CAE}"/>
              </a:ext>
            </a:extLst>
          </p:cNvPr>
          <p:cNvSpPr>
            <a:spLocks noGrp="1"/>
          </p:cNvSpPr>
          <p:nvPr/>
        </p:nvSpPr>
        <p:spPr>
          <a:xfrm>
            <a:off x="4966415" y="3048000"/>
            <a:ext cx="19907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4332"/>
          </a:bodyPr>
          <a:lstStyle/>
          <a:p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Three modes; N, TCA, amino-sugar, and fatty-acid pathways represented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70D783-9B09-45D0-B764-B8CF29CE8800}"/>
              </a:ext>
            </a:extLst>
          </p:cNvPr>
          <p:cNvSpPr>
            <a:spLocks noGrp="1"/>
          </p:cNvSpPr>
          <p:nvPr/>
        </p:nvSpPr>
        <p:spPr>
          <a:xfrm>
            <a:off x="7166690" y="2876550"/>
            <a:ext cx="2257425" cy="95250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835BD1-42D3-48E3-A806-D7C7410D9BB0}"/>
              </a:ext>
            </a:extLst>
          </p:cNvPr>
          <p:cNvSpPr>
            <a:spLocks noGrp="1"/>
          </p:cNvSpPr>
          <p:nvPr/>
        </p:nvSpPr>
        <p:spPr>
          <a:xfrm>
            <a:off x="7300040" y="3048000"/>
            <a:ext cx="19907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2326" lnSpcReduction="20000"/>
          </a:bodyPr>
          <a:lstStyle/>
          <a:p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Three modes; nitrate, urease, C-use, amino-acid, and stress KOs represented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A3161A-F7F3-43FF-9AAD-33EDBBF30B86}"/>
              </a:ext>
            </a:extLst>
          </p:cNvPr>
          <p:cNvSpPr>
            <a:spLocks noGrp="1"/>
          </p:cNvSpPr>
          <p:nvPr/>
        </p:nvSpPr>
        <p:spPr>
          <a:xfrm>
            <a:off x="2280365" y="3829050"/>
            <a:ext cx="24765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CEE6F9-E1FD-4C14-9643-8FE9592CD957}"/>
              </a:ext>
            </a:extLst>
          </p:cNvPr>
          <p:cNvSpPr>
            <a:spLocks noGrp="1"/>
          </p:cNvSpPr>
          <p:nvPr/>
        </p:nvSpPr>
        <p:spPr>
          <a:xfrm>
            <a:off x="2413715" y="4000500"/>
            <a:ext cx="2209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Sharp Sep-Oct fall pulse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B819B90-4131-4F85-95C6-E0D40239603B}"/>
              </a:ext>
            </a:extLst>
          </p:cNvPr>
          <p:cNvSpPr>
            <a:spLocks noGrp="1"/>
          </p:cNvSpPr>
          <p:nvPr/>
        </p:nvSpPr>
        <p:spPr>
          <a:xfrm>
            <a:off x="4833065" y="3829050"/>
            <a:ext cx="225742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B3A2CC-FA13-468D-A654-E3E0F614EA8D}"/>
              </a:ext>
            </a:extLst>
          </p:cNvPr>
          <p:cNvSpPr>
            <a:spLocks noGrp="1"/>
          </p:cNvSpPr>
          <p:nvPr/>
        </p:nvSpPr>
        <p:spPr>
          <a:xfrm>
            <a:off x="4966415" y="4000500"/>
            <a:ext cx="19907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 single dominant pathway cluster uniquely reproduces the pulse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968DBE-918C-4F09-BC6D-4A233615CC6A}"/>
              </a:ext>
            </a:extLst>
          </p:cNvPr>
          <p:cNvSpPr>
            <a:spLocks noGrp="1"/>
          </p:cNvSpPr>
          <p:nvPr/>
        </p:nvSpPr>
        <p:spPr>
          <a:xfrm>
            <a:off x="7166690" y="3829050"/>
            <a:ext cx="225742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54E8BC-ABCC-4176-9150-44ABE8207DE2}"/>
              </a:ext>
            </a:extLst>
          </p:cNvPr>
          <p:cNvSpPr>
            <a:spLocks noGrp="1"/>
          </p:cNvSpPr>
          <p:nvPr/>
        </p:nvSpPr>
        <p:spPr>
          <a:xfrm>
            <a:off x="7300040" y="4000500"/>
            <a:ext cx="19907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 single dominant KO cluster uniquely reproduces the pulse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D9E996-9A1F-4879-99E8-863105A52444}"/>
              </a:ext>
            </a:extLst>
          </p:cNvPr>
          <p:cNvSpPr>
            <a:spLocks noGrp="1"/>
          </p:cNvSpPr>
          <p:nvPr/>
        </p:nvSpPr>
        <p:spPr>
          <a:xfrm>
            <a:off x="2280365" y="4781550"/>
            <a:ext cx="2476500" cy="95250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49C99B-01B9-4017-9B6B-8D6E4BF1C11C}"/>
              </a:ext>
            </a:extLst>
          </p:cNvPr>
          <p:cNvSpPr>
            <a:spLocks noGrp="1"/>
          </p:cNvSpPr>
          <p:nvPr/>
        </p:nvSpPr>
        <p:spPr>
          <a:xfrm>
            <a:off x="2413715" y="4953000"/>
            <a:ext cx="2209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Cross-scale conclusion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5DDD3B4-2122-45EB-9B0C-4B8D73D0704A}"/>
              </a:ext>
            </a:extLst>
          </p:cNvPr>
          <p:cNvSpPr>
            <a:spLocks noGrp="1"/>
          </p:cNvSpPr>
          <p:nvPr/>
        </p:nvSpPr>
        <p:spPr>
          <a:xfrm>
            <a:off x="4833065" y="4781550"/>
            <a:ext cx="2257425" cy="95250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67DBFE-92A8-40FF-9698-03C377878122}"/>
              </a:ext>
            </a:extLst>
          </p:cNvPr>
          <p:cNvSpPr>
            <a:spLocks noGrp="1"/>
          </p:cNvSpPr>
          <p:nvPr/>
        </p:nvSpPr>
        <p:spPr>
          <a:xfrm>
            <a:off x="4966415" y="4953000"/>
            <a:ext cx="19907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4215" lnSpcReduction="10000"/>
          </a:bodyPr>
          <a:lstStyle/>
          <a:p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Partial coordination across expressed pathways, consistent with the storyboard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D934F7F-568B-41A2-9065-F9E03000CAB1}"/>
              </a:ext>
            </a:extLst>
          </p:cNvPr>
          <p:cNvSpPr>
            <a:spLocks noGrp="1"/>
          </p:cNvSpPr>
          <p:nvPr/>
        </p:nvSpPr>
        <p:spPr>
          <a:xfrm>
            <a:off x="7166690" y="4781550"/>
            <a:ext cx="2257425" cy="95250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6C64D4-B7AC-49B6-BA3F-FC375E64070F}"/>
              </a:ext>
            </a:extLst>
          </p:cNvPr>
          <p:cNvSpPr>
            <a:spLocks noGrp="1"/>
          </p:cNvSpPr>
          <p:nvPr/>
        </p:nvSpPr>
        <p:spPr>
          <a:xfrm>
            <a:off x="7300040" y="4953000"/>
            <a:ext cx="19907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Heterogeneity at KO resolution reinforces assay-specific variation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3BF01D-24A8-46B8-8DF5-8BAF4F48BCB7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Interpretation: seasonal substrate-use capacity and expression overlap, but transient phenotypes may require denser sampling or remain assay-specific.</a:t>
            </a:r>
          </a:p>
        </p:txBody>
      </p:sp>
    </p:spTree>
    <p:extLst>
      <p:ext uri="{BB962C8B-B14F-4D97-AF65-F5344CB8AC3E}">
        <p14:creationId xmlns:p14="http://schemas.microsoft.com/office/powerpoint/2010/main" val="148369179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1235</Words>
  <Application>Microsoft Office PowerPoint</Application>
  <DocSecurity>0</DocSecurity>
  <PresentationFormat>Widescreen</PresentationFormat>
  <Paragraphs>105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Garayburu-Caruso, Vanessa A</cp:lastModifiedBy>
  <cp:revision>1</cp:revision>
  <dcterms:created xsi:type="dcterms:W3CDTF">2026-07-26T18:43:07Z</dcterms:created>
  <dcterms:modified xsi:type="dcterms:W3CDTF">2026-07-26T19:02:45Z</dcterms:modified>
</cp:coreProperties>
</file>