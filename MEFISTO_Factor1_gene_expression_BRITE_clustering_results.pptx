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27748ceb274f41" /><Relationship Type="http://schemas.openxmlformats.org/officeDocument/2006/relationships/extended-properties" Target="/docProps/app.xml" Id="Rd6c5111fc4044ee1" /><Relationship Type="http://schemas.openxmlformats.org/officeDocument/2006/relationships/officeDocument" Target="/ppt/presentation.xml" Id="R62f8b087314442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b3883521ab422d"/>
  </p:sldMasterIdLst>
  <p:notesMasterIdLst>
    <p:notesMasterId xmlns:r="http://schemas.openxmlformats.org/officeDocument/2006/relationships" r:id="R53586f392a5a4cff"/>
  </p:notesMasterIdLst>
  <p:sldIdLst>
    <p:sldId xmlns:r="http://schemas.openxmlformats.org/officeDocument/2006/relationships" id="256" r:id="R00d7d5bda9e0412e"/>
    <p:sldId xmlns:r="http://schemas.openxmlformats.org/officeDocument/2006/relationships" id="257" r:id="R310d613b29bc47d2"/>
    <p:sldId xmlns:r="http://schemas.openxmlformats.org/officeDocument/2006/relationships" id="258" r:id="R29360917a3cf4e4d"/>
    <p:sldId xmlns:r="http://schemas.openxmlformats.org/officeDocument/2006/relationships" id="259" r:id="R04303e33c4134d5b"/>
    <p:sldId xmlns:r="http://schemas.openxmlformats.org/officeDocument/2006/relationships" id="260" r:id="R1a94fcb8a3864093"/>
    <p:sldId xmlns:r="http://schemas.openxmlformats.org/officeDocument/2006/relationships" id="261" r:id="Rfe20910ff1984f87"/>
    <p:sldId xmlns:r="http://schemas.openxmlformats.org/officeDocument/2006/relationships" id="262" r:id="Re848783eb8394cfe"/>
    <p:sldId xmlns:r="http://schemas.openxmlformats.org/officeDocument/2006/relationships" id="263" r:id="R3c2312f4ca1d4230"/>
    <p:sldId xmlns:r="http://schemas.openxmlformats.org/officeDocument/2006/relationships" id="264" r:id="R3ee7ff2f4e4b4f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0dc2cd1e0496f" /><Relationship Type="http://schemas.openxmlformats.org/officeDocument/2006/relationships/slideMaster" Target="/ppt/slideMasters/slideMaster1.xml" Id="Re7b3883521ab422d" /><Relationship Type="http://schemas.openxmlformats.org/officeDocument/2006/relationships/notesMaster" Target="/ppt/notesMasters/notesMaster1.xml" Id="R53586f392a5a4cff" /><Relationship Type="http://schemas.openxmlformats.org/officeDocument/2006/relationships/presProps" Target="/ppt/presProps.xml" Id="R76d226ee5eda47c6" /><Relationship Type="http://schemas.openxmlformats.org/officeDocument/2006/relationships/viewProps" Target="/ppt/viewProps.xml" Id="R3c7492cf0b194da8" /><Relationship Type="http://schemas.openxmlformats.org/officeDocument/2006/relationships/tableStyles" Target="/ppt/tableStyles.xml" Id="R16f48ad6bfc347f4" /><Relationship Type="http://schemas.openxmlformats.org/officeDocument/2006/relationships/slide" Target="/ppt/slides/slide1.xml" Id="R00d7d5bda9e0412e" /><Relationship Type="http://schemas.openxmlformats.org/officeDocument/2006/relationships/slide" Target="/ppt/slides/slide2.xml" Id="R310d613b29bc47d2" /><Relationship Type="http://schemas.openxmlformats.org/officeDocument/2006/relationships/slide" Target="/ppt/slides/slide3.xml" Id="R29360917a3cf4e4d" /><Relationship Type="http://schemas.openxmlformats.org/officeDocument/2006/relationships/slide" Target="/ppt/slides/slide4.xml" Id="R04303e33c4134d5b" /><Relationship Type="http://schemas.openxmlformats.org/officeDocument/2006/relationships/slide" Target="/ppt/slides/slide5.xml" Id="R1a94fcb8a3864093" /><Relationship Type="http://schemas.openxmlformats.org/officeDocument/2006/relationships/slide" Target="/ppt/slides/slide6.xml" Id="Rfe20910ff1984f87" /><Relationship Type="http://schemas.openxmlformats.org/officeDocument/2006/relationships/slide" Target="/ppt/slides/slide7.xml" Id="Re848783eb8394cfe" /><Relationship Type="http://schemas.openxmlformats.org/officeDocument/2006/relationships/slide" Target="/ppt/slides/slide8.xml" Id="R3c2312f4ca1d4230" /><Relationship Type="http://schemas.openxmlformats.org/officeDocument/2006/relationships/slide" Target="/ppt/slides/slide9.xml" Id="R3ee7ff2f4e4b4f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8c678b863644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3d343163a47e0" /><Relationship Type="http://schemas.openxmlformats.org/officeDocument/2006/relationships/notesMaster" Target="/ppt/notesMasters/notesMaster1.xml" Id="Rc112ad7f916742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eeeeea82814234" /><Relationship Type="http://schemas.openxmlformats.org/officeDocument/2006/relationships/notesMaster" Target="/ppt/notesMasters/notesMaster1.xml" Id="R8ba7ebf2bd1b40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5e5719a47c440e" /><Relationship Type="http://schemas.openxmlformats.org/officeDocument/2006/relationships/notesMaster" Target="/ppt/notesMasters/notesMaster1.xml" Id="R105ce37ba1ec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929f1d29f54e88" /><Relationship Type="http://schemas.openxmlformats.org/officeDocument/2006/relationships/notesMaster" Target="/ppt/notesMasters/notesMaster1.xml" Id="R01cddacebad944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533dea5134700" /><Relationship Type="http://schemas.openxmlformats.org/officeDocument/2006/relationships/notesMaster" Target="/ppt/notesMasters/notesMaster1.xml" Id="R2ad766dc9f494b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22296f7bcf4362" /><Relationship Type="http://schemas.openxmlformats.org/officeDocument/2006/relationships/notesMaster" Target="/ppt/notesMasters/notesMaster1.xml" Id="R3f283ce7f0c548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2f7f06e09544bb" /><Relationship Type="http://schemas.openxmlformats.org/officeDocument/2006/relationships/notesMaster" Target="/ppt/notesMasters/notesMaster1.xml" Id="Rbaa007f0f4d64c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a6b5d64a4a4af8" /><Relationship Type="http://schemas.openxmlformats.org/officeDocument/2006/relationships/notesMaster" Target="/ppt/notesMasters/notesMaster1.xml" Id="R7cb123a9fa0e4a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834225257b457a" /><Relationship Type="http://schemas.openxmlformats.org/officeDocument/2006/relationships/notesMaster" Target="/ppt/notesMasters/notesMaster1.xml" Id="Rb3f075975daa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Scripts/13_Factor1_expression_MicroResp_BRITE_C_D.R</a:t>
            </a:r>
          </a:p>
          <a:p xmlns:a="http://schemas.openxmlformats.org/drawingml/2006/main">
            <a:r>
              <a:t>SFA3-1-1_VGC_Storyboard_v2.docx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Results/Factor1_BRITE_MicroResp/factor1_gene_summary.csv</a:t>
            </a:r>
          </a:p>
          <a:p xmlns:a="http://schemas.openxmlformats.org/drawingml/2006/main">
            <a:r>
              <a:t>Results/Factor1_BRITE_MicroResp/run_manifest.csv</a:t>
            </a:r>
          </a:p>
          <a:p xmlns:a="http://schemas.openxmlformats.org/drawingml/2006/main">
            <a:r>
              <a:t>Scripts/13_Factor1_expression_MicroResp_BRITE_C_D.R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Results/Factor1_BRITE_MicroResp/factor1_brite_C_summary.csv</a:t>
            </a:r>
          </a:p>
          <a:p xmlns:a="http://schemas.openxmlformats.org/drawingml/2006/main">
            <a:r>
              <a:t>Results/Factor1_BRITE_MicroResp/factor1_brite_D_summary.csv</a:t>
            </a:r>
          </a:p>
          <a:p xmlns:a="http://schemas.openxmlformats.org/drawingml/2006/main">
            <a:r>
              <a:t>Figures/Factor1_BRITE_MicroResp/factor1_brite_C_gene_counts.png</a:t>
            </a:r>
          </a:p>
          <a:p xmlns:a="http://schemas.openxmlformats.org/drawingml/2006/main">
            <a:r>
              <a:t>Figures/Factor1_BRITE_MicroResp/factor1_brite_D_gene_counts.png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Results/Factor1_BRITE_MicroResp/temporal_gam/Factor1_GAM_run_summary.csv</a:t>
            </a:r>
          </a:p>
          <a:p xmlns:a="http://schemas.openxmlformats.org/drawingml/2006/main">
            <a:r>
              <a:t>Figures/Factor1_BRITE_MicroResp/temporal_gam/brite_C_significant_temporal_GAMs.png</a:t>
            </a:r>
          </a:p>
          <a:p xmlns:a="http://schemas.openxmlformats.org/drawingml/2006/main">
            <a:r>
              <a:t>Figures/Factor1_BRITE_MicroResp/temporal_gam/brite_D_significant_temporal_GAMs.png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Results/Factor1_BRITE_MicroResp/factor1_microresp_overlap_summary.csv</a:t>
            </a:r>
          </a:p>
          <a:p xmlns:a="http://schemas.openxmlformats.org/drawingml/2006/main">
            <a:r>
              <a:t>Results/Factor1_BRITE_MicroResp/clustering/Factor1_MicroResp_clustering_run_summary.csv</a:t>
            </a:r>
          </a:p>
          <a:p xmlns:a="http://schemas.openxmlformats.org/drawingml/2006/main">
            <a:r>
              <a:t>Results/Factor1_BRITE_MicroResp/clustering/brite_C_Factor1_MicroResp_elbow_diagnostics.csv</a:t>
            </a:r>
          </a:p>
          <a:p xmlns:a="http://schemas.openxmlformats.org/drawingml/2006/main">
            <a:r>
              <a:t>Results/Factor1_BRITE_MicroResp/clustering/brite_D_Factor1_MicroResp_elbow_diagnostics.csv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Results/Factor1_BRITE_MicroResp/clustering/brite_C_Factor1_MicroResp_cluster_assignments.csv</a:t>
            </a:r>
          </a:p>
          <a:p xmlns:a="http://schemas.openxmlformats.org/drawingml/2006/main">
            <a:r>
              <a:t>Results/Factor1_BRITE_MicroResp/clustering/brite_C_Factor1_MicroResp_cluster_average_trajectories.csv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Results/Factor1_BRITE_MicroResp/clustering/brite_D_Factor1_MicroResp_cluster_assignments.csv</a:t>
            </a:r>
          </a:p>
          <a:p xmlns:a="http://schemas.openxmlformats.org/drawingml/2006/main">
            <a:r>
              <a:t>Results/Factor1_BRITE_MicroResp/clustering/brite_D_Factor1_MicroResp_cluster_average_trajectories.csv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Results/Factor1_BRITE_MicroResp/clustering/brite_C_Factor1_MicroResp_cluster_assignments.csv</a:t>
            </a:r>
          </a:p>
          <a:p xmlns:a="http://schemas.openxmlformats.org/drawingml/2006/main">
            <a:r>
              <a:t>Results/Factor1_BRITE_MicroResp/clustering/brite_D_Factor1_MicroResp_heatmap_feature_selection.csv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SFA3-1-1_VGC_Storyboard_v2.docx</a:t>
            </a:r>
          </a:p>
          <a:p xmlns:a="http://schemas.openxmlformats.org/drawingml/2006/main">
            <a:r>
              <a:t>Data/factor1_all_omic_genes.csv</a:t>
            </a:r>
          </a:p>
          <a:p xmlns:a="http://schemas.openxmlformats.org/drawingml/2006/main">
            <a:r>
              <a:t>Results/Factor1_BRITE_MicroResp/clustering/Factor1_MicroResp_clustering_run_summary.csv</a:t>
            </a:r>
          </a:p>
          <a:p xmlns:a="http://schemas.openxmlformats.org/drawingml/2006/main">
            <a:r>
              <a:t>Scripts/13_Factor1_expression_MicroResp_BRITE_C_D.R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69a7374cc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f936568a114193" /><Relationship Type="http://schemas.openxmlformats.org/officeDocument/2006/relationships/slideLayout" Target="/ppt/slideLayouts/slideLayout1.xml" Id="R405eb8cf8a3e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5eb8cf8a3e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eabb5166d4795" /><Relationship Type="http://schemas.openxmlformats.org/officeDocument/2006/relationships/notesSlide" Target="/ppt/notesSlides/notesSlide1.xml" Id="R48dd0545e0494f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c4e13d6114345" /><Relationship Type="http://schemas.openxmlformats.org/officeDocument/2006/relationships/notesSlide" Target="/ppt/notesSlides/notesSlide2.xml" Id="R06014f89da604d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03f8978614eab" /><Relationship Type="http://schemas.openxmlformats.org/officeDocument/2006/relationships/image" Target="/ppt/media/image.png" Id="Ra45a8dbba9dc4d55" /><Relationship Type="http://schemas.openxmlformats.org/officeDocument/2006/relationships/image" Target="/ppt/media/image2.png" Id="R4ace8598ed574f72" /><Relationship Type="http://schemas.openxmlformats.org/officeDocument/2006/relationships/notesSlide" Target="/ppt/notesSlides/notesSlide3.xml" Id="R229e6740502e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bb859b7ce41a4" /><Relationship Type="http://schemas.openxmlformats.org/officeDocument/2006/relationships/image" Target="/ppt/media/image.png" Id="Rd49c305479d14957" /><Relationship Type="http://schemas.openxmlformats.org/officeDocument/2006/relationships/image" Target="/ppt/media/image2.png" Id="Rbf3df6ad8440449d" /><Relationship Type="http://schemas.openxmlformats.org/officeDocument/2006/relationships/notesSlide" Target="/ppt/notesSlides/notesSlide4.xml" Id="R248171685b0d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c68dde8ef403e" /><Relationship Type="http://schemas.openxmlformats.org/officeDocument/2006/relationships/image" Target="/ppt/media/image.png" Id="Rc604137e0dd14b27" /><Relationship Type="http://schemas.openxmlformats.org/officeDocument/2006/relationships/image" Target="/ppt/media/image2.png" Id="R0795d1db8a5b49f6" /><Relationship Type="http://schemas.openxmlformats.org/officeDocument/2006/relationships/notesSlide" Target="/ppt/notesSlides/notesSlide5.xml" Id="R4337dcd33077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d51ad1c584c26" /><Relationship Type="http://schemas.openxmlformats.org/officeDocument/2006/relationships/image" Target="/ppt/media/image3.png" Id="Re20103be99044cb4" /><Relationship Type="http://schemas.openxmlformats.org/officeDocument/2006/relationships/notesSlide" Target="/ppt/notesSlides/notesSlide6.xml" Id="R57017a62dbc644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43025189f4512" /><Relationship Type="http://schemas.openxmlformats.org/officeDocument/2006/relationships/image" Target="/ppt/media/image4.png" Id="R8e841ffe259a4249" /><Relationship Type="http://schemas.openxmlformats.org/officeDocument/2006/relationships/notesSlide" Target="/ppt/notesSlides/notesSlide7.xml" Id="Rcca6ce0172f14b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a43fb26b64462" /><Relationship Type="http://schemas.openxmlformats.org/officeDocument/2006/relationships/image" Target="/ppt/media/image.png" Id="R641324ea38404373" /><Relationship Type="http://schemas.openxmlformats.org/officeDocument/2006/relationships/image" Target="/ppt/media/image2.png" Id="R524720b85c974ba5" /><Relationship Type="http://schemas.openxmlformats.org/officeDocument/2006/relationships/notesSlide" Target="/ppt/notesSlides/notesSlide8.xml" Id="R53b446144ef84c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583796a93481e" /><Relationship Type="http://schemas.openxmlformats.org/officeDocument/2006/relationships/notesSlide" Target="/ppt/notesSlides/notesSlide9.xml" Id="R40398e36a83c4c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MEFISTO Factor 1 genes contain three seasonal expression programs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gene selection, BRITE aggregation, temporal GAMs, MicroResp overlap, and trajectory clustering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100% irrigation metatranscriptomes | Seven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FOLLOW-ON ANALYSIS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6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workflow asks which Factor 1 transcripts align with MicroResp-linked functions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MEFISTO Factor 1 features were filtered from the original expression matrix, annotated to KEGG, aggregated to BRITE C pathways and BRITE D KOs, modeled through time, intersected with the MicroResp map, and clustered by fitted trajectory shape.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770k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Factor 1 transcript features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516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BRITE C pathways represented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6,789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BRITE D KOs represented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GAM: Expression ~ s(time, k = 6) + s(Plot, random effect). Clustering: row z-score, 1 - Pearson correlation, Ward.D2.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factor1_gene_summary.csv and run_manifest.csv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FUNCTIONAL BREADTH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7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Factor 1 genes span broad pathway- and KO-level functional space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a8dbba9dc4d55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e8598ed574f72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most gene-rich annotations include central metabolism, biosynthesis, transport, energy conservation, and information-processing functions.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Bars count Factor 1 genes per annotation; they do not show loading sign or temporal significance.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TEMPORAL GAMS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0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Temporal structure is widespread, but not universal, across Factor 1 functions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c305479d14957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df6ad8440449d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Of 348 pathway models, 337 converged and 145 were time-significant. Of 6,338 KO models, 5,784 converged and 925 were time-significant after FDR correction.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Panels show the FDR-significant subset; fitted curves exclude the plot random effect.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 OVERLAP AND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0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MicroResp-linked Factor 1 subset supports three expression clusters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4137e0dd14b27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5d1db8a5b49f6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 mapping matched 31/516 Factor 1 pathways and 1,113/6,789 Factor 1 KOs. After model matching, 31 pathways and 985 KOs were clustered; both elbows selected k = 3.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Target-set FDR significance: 20 BRITE C pathways and 230 BRITE D KOs.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| BRITE C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Pathway clusters separate early-high, rebound, and late-activation modes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103be99044cb4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5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12 pathways: highest in Jun-Jul, minimum in Jan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01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13 pathways: early-high, Jan minimum, strong May rebound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72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6 pathways: low through Oct, then rises to a May maximum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Connection to Factor 1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most closely resembles the winter/early-spring activation described in the storyboard. Clusters 1 and 2 show that Factor 1 membership also contains early-season and rebound programs.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 Factor 1 cluster assignments and average trajectories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| BRITE D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KO-level clusters resolve a large sustained late-activation program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41ffe259a4249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477 KOs: highest in Jun-Jul, sustained decline afterward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19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245 KOs: early-high, Jan minimum, strong May rebound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0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263 KOs: low in summer, increases from Jan through May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Functional examples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Late/rebound groups include nitrate and nitrite reduction, storage-carbon, amino-acid, sugar-use, and N-oxide functions. Early-high genes include urease, polyamine, TCA, and aromatic-use functions.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 Factor 1 cluster assignments and average trajectories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TRAJECTORY HEATMAPS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04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three timing modes are coherent across pathway and KO resolutions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324ea38404373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720b85c974ba5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displays all 31 mapped pathways. BRITE D displays the top 15 KOs per cluster by time-only variance explained, while all 985 KOs remain in the clustering.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Rows are z-scored; colors compare temporal shape, not expression magnitude.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STORYBOARD SYNTHESIS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7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Factor 1 supports partial coordination, with an important sign-specific caveat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late-activation clusters support the storyboard's interpretation that part of the Factor 1 transcript signal tracks the winter/early-spring MicroResp phenotype. Other clusters reveal early-high and rebound programs within the same Factor 1 feature set.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263 KOs and 6 pathways rise from winter toward May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This analysis combines positive and negative Factor 1 loadings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Repeat clustering separately by loading sign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membership is broader than the sign-specific reconstructed trajectory. Separating loading direction would provide the cleanest direct test of the storyboard's negative-weight winter signal.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Factor 1 cluster outputs and manuscript storyboard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2026-07-27T00:58:59.5380000Z</dcterms:created>
  <dcterms:modified xsi:type="dcterms:W3CDTF">2026-07-27T00:58:59.5380000Z</dcterms:modified>
</coreProperties>
</file>